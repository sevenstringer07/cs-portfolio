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 r:id="rId2"/>
    <p:sldId id="265" r:id="rId3"/>
    <p:sldId id="258" r:id="rId4"/>
    <p:sldId id="259" r:id="rId5"/>
    <p:sldId id="260" r:id="rId6"/>
    <p:sldId id="261" r:id="rId7"/>
    <p:sldId id="262" r:id="rId8"/>
    <p:sldId id="263" r:id="rId9"/>
    <p:sldId id="264" r:id="rId10"/>
    <p:sldId id="266"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2" autoAdjust="0"/>
    <p:restoredTop sz="94660"/>
  </p:normalViewPr>
  <p:slideViewPr>
    <p:cSldViewPr snapToGrid="0">
      <p:cViewPr varScale="1">
        <p:scale>
          <a:sx n="48" d="100"/>
          <a:sy n="48" d="100"/>
        </p:scale>
        <p:origin x="1362"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cott Campbell" userId="b7aaa358b220454f" providerId="LiveId" clId="{CC5E7603-76B2-4C4B-A1EF-144213644A14}"/>
    <pc:docChg chg="undo custSel addSld delSld modSld">
      <pc:chgData name="Scott Campbell" userId="b7aaa358b220454f" providerId="LiveId" clId="{CC5E7603-76B2-4C4B-A1EF-144213644A14}" dt="2026-06-15T23:45:18.808" v="963" actId="14100"/>
      <pc:docMkLst>
        <pc:docMk/>
      </pc:docMkLst>
      <pc:sldChg chg="modSp mod">
        <pc:chgData name="Scott Campbell" userId="b7aaa358b220454f" providerId="LiveId" clId="{CC5E7603-76B2-4C4B-A1EF-144213644A14}" dt="2026-06-15T21:35:00.876" v="106" actId="27636"/>
        <pc:sldMkLst>
          <pc:docMk/>
          <pc:sldMk cId="868958458" sldId="256"/>
        </pc:sldMkLst>
        <pc:spChg chg="mod">
          <ac:chgData name="Scott Campbell" userId="b7aaa358b220454f" providerId="LiveId" clId="{CC5E7603-76B2-4C4B-A1EF-144213644A14}" dt="2026-06-15T21:35:00.876" v="106" actId="27636"/>
          <ac:spMkLst>
            <pc:docMk/>
            <pc:sldMk cId="868958458" sldId="256"/>
            <ac:spMk id="3" creationId="{41D2E561-F78A-079D-6DB5-DC7CF34A2335}"/>
          </ac:spMkLst>
        </pc:spChg>
      </pc:sldChg>
      <pc:sldChg chg="modSp new del mod">
        <pc:chgData name="Scott Campbell" userId="b7aaa358b220454f" providerId="LiveId" clId="{CC5E7603-76B2-4C4B-A1EF-144213644A14}" dt="2026-06-15T23:35:55.306" v="954" actId="2696"/>
        <pc:sldMkLst>
          <pc:docMk/>
          <pc:sldMk cId="1340944655" sldId="257"/>
        </pc:sldMkLst>
        <pc:spChg chg="mod">
          <ac:chgData name="Scott Campbell" userId="b7aaa358b220454f" providerId="LiveId" clId="{CC5E7603-76B2-4C4B-A1EF-144213644A14}" dt="2026-06-15T21:45:25.846" v="110" actId="20577"/>
          <ac:spMkLst>
            <pc:docMk/>
            <pc:sldMk cId="1340944655" sldId="257"/>
            <ac:spMk id="2" creationId="{DBA21474-50C4-999B-BC29-E6CCD969C2DA}"/>
          </ac:spMkLst>
        </pc:spChg>
        <pc:spChg chg="mod">
          <ac:chgData name="Scott Campbell" userId="b7aaa358b220454f" providerId="LiveId" clId="{CC5E7603-76B2-4C4B-A1EF-144213644A14}" dt="2026-06-15T22:56:00.003" v="758" actId="14100"/>
          <ac:spMkLst>
            <pc:docMk/>
            <pc:sldMk cId="1340944655" sldId="257"/>
            <ac:spMk id="3" creationId="{E001042A-58DE-2727-918A-D23E75C8B372}"/>
          </ac:spMkLst>
        </pc:spChg>
      </pc:sldChg>
      <pc:sldChg chg="modSp new mod">
        <pc:chgData name="Scott Campbell" userId="b7aaa358b220454f" providerId="LiveId" clId="{CC5E7603-76B2-4C4B-A1EF-144213644A14}" dt="2026-06-15T21:52:22.702" v="153" actId="27636"/>
        <pc:sldMkLst>
          <pc:docMk/>
          <pc:sldMk cId="1729251306" sldId="258"/>
        </pc:sldMkLst>
        <pc:spChg chg="mod">
          <ac:chgData name="Scott Campbell" userId="b7aaa358b220454f" providerId="LiveId" clId="{CC5E7603-76B2-4C4B-A1EF-144213644A14}" dt="2026-06-15T21:51:22.329" v="151" actId="20577"/>
          <ac:spMkLst>
            <pc:docMk/>
            <pc:sldMk cId="1729251306" sldId="258"/>
            <ac:spMk id="2" creationId="{0CE670A5-52D1-72FE-33B5-B120C2D3FA29}"/>
          </ac:spMkLst>
        </pc:spChg>
        <pc:spChg chg="mod">
          <ac:chgData name="Scott Campbell" userId="b7aaa358b220454f" providerId="LiveId" clId="{CC5E7603-76B2-4C4B-A1EF-144213644A14}" dt="2026-06-15T21:52:22.702" v="153" actId="27636"/>
          <ac:spMkLst>
            <pc:docMk/>
            <pc:sldMk cId="1729251306" sldId="258"/>
            <ac:spMk id="3" creationId="{B52FF356-BA44-96C6-FCBA-982A5607F457}"/>
          </ac:spMkLst>
        </pc:spChg>
      </pc:sldChg>
      <pc:sldChg chg="addSp delSp modSp new mod">
        <pc:chgData name="Scott Campbell" userId="b7aaa358b220454f" providerId="LiveId" clId="{CC5E7603-76B2-4C4B-A1EF-144213644A14}" dt="2026-06-15T23:37:45.079" v="955" actId="1076"/>
        <pc:sldMkLst>
          <pc:docMk/>
          <pc:sldMk cId="386751862" sldId="259"/>
        </pc:sldMkLst>
        <pc:spChg chg="mod">
          <ac:chgData name="Scott Campbell" userId="b7aaa358b220454f" providerId="LiveId" clId="{CC5E7603-76B2-4C4B-A1EF-144213644A14}" dt="2026-06-15T21:55:59.485" v="197" actId="20577"/>
          <ac:spMkLst>
            <pc:docMk/>
            <pc:sldMk cId="386751862" sldId="259"/>
            <ac:spMk id="2" creationId="{5BA68BC7-9849-20A5-A39F-037ABAE0BC6E}"/>
          </ac:spMkLst>
        </pc:spChg>
        <pc:spChg chg="add del">
          <ac:chgData name="Scott Campbell" userId="b7aaa358b220454f" providerId="LiveId" clId="{CC5E7603-76B2-4C4B-A1EF-144213644A14}" dt="2026-06-15T22:16:39.697" v="227" actId="3680"/>
          <ac:spMkLst>
            <pc:docMk/>
            <pc:sldMk cId="386751862" sldId="259"/>
            <ac:spMk id="3" creationId="{898B784D-3426-DFED-0E6E-864B344FC3EB}"/>
          </ac:spMkLst>
        </pc:spChg>
        <pc:spChg chg="add mod">
          <ac:chgData name="Scott Campbell" userId="b7aaa358b220454f" providerId="LiveId" clId="{CC5E7603-76B2-4C4B-A1EF-144213644A14}" dt="2026-06-15T23:37:45.079" v="955" actId="1076"/>
          <ac:spMkLst>
            <pc:docMk/>
            <pc:sldMk cId="386751862" sldId="259"/>
            <ac:spMk id="7" creationId="{2A465D63-396C-F260-A87C-5740F69DA6CD}"/>
          </ac:spMkLst>
        </pc:spChg>
        <pc:graphicFrameChg chg="add del mod ord modGraphic">
          <ac:chgData name="Scott Campbell" userId="b7aaa358b220454f" providerId="LiveId" clId="{CC5E7603-76B2-4C4B-A1EF-144213644A14}" dt="2026-06-15T22:14:12.100" v="199" actId="3680"/>
          <ac:graphicFrameMkLst>
            <pc:docMk/>
            <pc:sldMk cId="386751862" sldId="259"/>
            <ac:graphicFrameMk id="4" creationId="{BCD8B252-A0E1-AE09-F2F0-378B6C523204}"/>
          </ac:graphicFrameMkLst>
        </pc:graphicFrameChg>
        <pc:graphicFrameChg chg="add del mod ord modGraphic">
          <ac:chgData name="Scott Campbell" userId="b7aaa358b220454f" providerId="LiveId" clId="{CC5E7603-76B2-4C4B-A1EF-144213644A14}" dt="2026-06-15T22:16:17.303" v="226" actId="3680"/>
          <ac:graphicFrameMkLst>
            <pc:docMk/>
            <pc:sldMk cId="386751862" sldId="259"/>
            <ac:graphicFrameMk id="5" creationId="{9157F00A-E545-2BA4-3C5C-CA555E0413B9}"/>
          </ac:graphicFrameMkLst>
        </pc:graphicFrameChg>
        <pc:graphicFrameChg chg="add mod ord modGraphic">
          <ac:chgData name="Scott Campbell" userId="b7aaa358b220454f" providerId="LiveId" clId="{CC5E7603-76B2-4C4B-A1EF-144213644A14}" dt="2026-06-15T22:39:10.756" v="509" actId="20577"/>
          <ac:graphicFrameMkLst>
            <pc:docMk/>
            <pc:sldMk cId="386751862" sldId="259"/>
            <ac:graphicFrameMk id="6" creationId="{5DB8BC77-7135-95A2-2200-F5E71EEA4E23}"/>
          </ac:graphicFrameMkLst>
        </pc:graphicFrameChg>
      </pc:sldChg>
      <pc:sldChg chg="modSp new mod">
        <pc:chgData name="Scott Campbell" userId="b7aaa358b220454f" providerId="LiveId" clId="{CC5E7603-76B2-4C4B-A1EF-144213644A14}" dt="2026-06-15T22:53:14.719" v="756" actId="27636"/>
        <pc:sldMkLst>
          <pc:docMk/>
          <pc:sldMk cId="3203754494" sldId="260"/>
        </pc:sldMkLst>
        <pc:spChg chg="mod">
          <ac:chgData name="Scott Campbell" userId="b7aaa358b220454f" providerId="LiveId" clId="{CC5E7603-76B2-4C4B-A1EF-144213644A14}" dt="2026-06-15T22:51:03.120" v="549" actId="20577"/>
          <ac:spMkLst>
            <pc:docMk/>
            <pc:sldMk cId="3203754494" sldId="260"/>
            <ac:spMk id="2" creationId="{600DCB3E-6945-4686-C74E-F12A95B3F9E9}"/>
          </ac:spMkLst>
        </pc:spChg>
        <pc:spChg chg="mod">
          <ac:chgData name="Scott Campbell" userId="b7aaa358b220454f" providerId="LiveId" clId="{CC5E7603-76B2-4C4B-A1EF-144213644A14}" dt="2026-06-15T22:53:14.719" v="756" actId="27636"/>
          <ac:spMkLst>
            <pc:docMk/>
            <pc:sldMk cId="3203754494" sldId="260"/>
            <ac:spMk id="3" creationId="{5BB99624-0E80-454E-B2F5-EABEDBC2A2C8}"/>
          </ac:spMkLst>
        </pc:spChg>
      </pc:sldChg>
      <pc:sldChg chg="modSp new mod">
        <pc:chgData name="Scott Campbell" userId="b7aaa358b220454f" providerId="LiveId" clId="{CC5E7603-76B2-4C4B-A1EF-144213644A14}" dt="2026-06-15T23:00:12.626" v="798" actId="27636"/>
        <pc:sldMkLst>
          <pc:docMk/>
          <pc:sldMk cId="1455908570" sldId="261"/>
        </pc:sldMkLst>
        <pc:spChg chg="mod">
          <ac:chgData name="Scott Campbell" userId="b7aaa358b220454f" providerId="LiveId" clId="{CC5E7603-76B2-4C4B-A1EF-144213644A14}" dt="2026-06-15T22:59:28.162" v="796" actId="20577"/>
          <ac:spMkLst>
            <pc:docMk/>
            <pc:sldMk cId="1455908570" sldId="261"/>
            <ac:spMk id="2" creationId="{2ADA087D-7274-142B-29BE-C5FE2239207C}"/>
          </ac:spMkLst>
        </pc:spChg>
        <pc:spChg chg="mod">
          <ac:chgData name="Scott Campbell" userId="b7aaa358b220454f" providerId="LiveId" clId="{CC5E7603-76B2-4C4B-A1EF-144213644A14}" dt="2026-06-15T23:00:12.626" v="798" actId="27636"/>
          <ac:spMkLst>
            <pc:docMk/>
            <pc:sldMk cId="1455908570" sldId="261"/>
            <ac:spMk id="3" creationId="{8D71CC9D-2132-A40B-57AA-C4C4BA0CE2A0}"/>
          </ac:spMkLst>
        </pc:spChg>
      </pc:sldChg>
      <pc:sldChg chg="modSp new mod">
        <pc:chgData name="Scott Campbell" userId="b7aaa358b220454f" providerId="LiveId" clId="{CC5E7603-76B2-4C4B-A1EF-144213644A14}" dt="2026-06-15T23:05:21.359" v="843" actId="27636"/>
        <pc:sldMkLst>
          <pc:docMk/>
          <pc:sldMk cId="629973305" sldId="262"/>
        </pc:sldMkLst>
        <pc:spChg chg="mod">
          <ac:chgData name="Scott Campbell" userId="b7aaa358b220454f" providerId="LiveId" clId="{CC5E7603-76B2-4C4B-A1EF-144213644A14}" dt="2026-06-15T23:03:50.638" v="841" actId="20577"/>
          <ac:spMkLst>
            <pc:docMk/>
            <pc:sldMk cId="629973305" sldId="262"/>
            <ac:spMk id="2" creationId="{5B481054-D5C5-0AE9-B21D-F51541F09651}"/>
          </ac:spMkLst>
        </pc:spChg>
        <pc:spChg chg="mod">
          <ac:chgData name="Scott Campbell" userId="b7aaa358b220454f" providerId="LiveId" clId="{CC5E7603-76B2-4C4B-A1EF-144213644A14}" dt="2026-06-15T23:05:21.359" v="843" actId="27636"/>
          <ac:spMkLst>
            <pc:docMk/>
            <pc:sldMk cId="629973305" sldId="262"/>
            <ac:spMk id="3" creationId="{220939B5-30BB-FABC-A599-5399203E68FE}"/>
          </ac:spMkLst>
        </pc:spChg>
      </pc:sldChg>
      <pc:sldChg chg="modSp new mod">
        <pc:chgData name="Scott Campbell" userId="b7aaa358b220454f" providerId="LiveId" clId="{CC5E7603-76B2-4C4B-A1EF-144213644A14}" dt="2026-06-15T23:08:37.030" v="868" actId="27636"/>
        <pc:sldMkLst>
          <pc:docMk/>
          <pc:sldMk cId="1937929" sldId="263"/>
        </pc:sldMkLst>
        <pc:spChg chg="mod">
          <ac:chgData name="Scott Campbell" userId="b7aaa358b220454f" providerId="LiveId" clId="{CC5E7603-76B2-4C4B-A1EF-144213644A14}" dt="2026-06-15T23:08:01.920" v="866" actId="20577"/>
          <ac:spMkLst>
            <pc:docMk/>
            <pc:sldMk cId="1937929" sldId="263"/>
            <ac:spMk id="2" creationId="{E20CA4D8-DB13-F5C6-AF27-FAE5E19896D1}"/>
          </ac:spMkLst>
        </pc:spChg>
        <pc:spChg chg="mod">
          <ac:chgData name="Scott Campbell" userId="b7aaa358b220454f" providerId="LiveId" clId="{CC5E7603-76B2-4C4B-A1EF-144213644A14}" dt="2026-06-15T23:08:37.030" v="868" actId="27636"/>
          <ac:spMkLst>
            <pc:docMk/>
            <pc:sldMk cId="1937929" sldId="263"/>
            <ac:spMk id="3" creationId="{92E34964-FE35-0B91-A7F7-D63A83F25AD2}"/>
          </ac:spMkLst>
        </pc:spChg>
      </pc:sldChg>
      <pc:sldChg chg="modSp new mod modNotesTx">
        <pc:chgData name="Scott Campbell" userId="b7aaa358b220454f" providerId="LiveId" clId="{CC5E7603-76B2-4C4B-A1EF-144213644A14}" dt="2026-06-15T23:22:28.027" v="917" actId="255"/>
        <pc:sldMkLst>
          <pc:docMk/>
          <pc:sldMk cId="1410930965" sldId="264"/>
        </pc:sldMkLst>
        <pc:spChg chg="mod">
          <ac:chgData name="Scott Campbell" userId="b7aaa358b220454f" providerId="LiveId" clId="{CC5E7603-76B2-4C4B-A1EF-144213644A14}" dt="2026-06-15T23:11:24.943" v="913" actId="20577"/>
          <ac:spMkLst>
            <pc:docMk/>
            <pc:sldMk cId="1410930965" sldId="264"/>
            <ac:spMk id="2" creationId="{7EE93CEC-3825-4014-6EF8-F546D638C7AD}"/>
          </ac:spMkLst>
        </pc:spChg>
        <pc:spChg chg="mod">
          <ac:chgData name="Scott Campbell" userId="b7aaa358b220454f" providerId="LiveId" clId="{CC5E7603-76B2-4C4B-A1EF-144213644A14}" dt="2026-06-15T23:12:12.769" v="915" actId="27636"/>
          <ac:spMkLst>
            <pc:docMk/>
            <pc:sldMk cId="1410930965" sldId="264"/>
            <ac:spMk id="3" creationId="{8BD2292C-E00B-1EC3-C7E8-BA3BC8122ACE}"/>
          </ac:spMkLst>
        </pc:spChg>
      </pc:sldChg>
      <pc:sldChg chg="modSp new mod">
        <pc:chgData name="Scott Campbell" userId="b7aaa358b220454f" providerId="LiveId" clId="{CC5E7603-76B2-4C4B-A1EF-144213644A14}" dt="2026-06-15T23:35:30.184" v="953" actId="27636"/>
        <pc:sldMkLst>
          <pc:docMk/>
          <pc:sldMk cId="232509415" sldId="265"/>
        </pc:sldMkLst>
        <pc:spChg chg="mod">
          <ac:chgData name="Scott Campbell" userId="b7aaa358b220454f" providerId="LiveId" clId="{CC5E7603-76B2-4C4B-A1EF-144213644A14}" dt="2026-06-15T23:34:39.051" v="951" actId="20577"/>
          <ac:spMkLst>
            <pc:docMk/>
            <pc:sldMk cId="232509415" sldId="265"/>
            <ac:spMk id="2" creationId="{65EE5CB0-5861-AB75-41D0-90C30F554376}"/>
          </ac:spMkLst>
        </pc:spChg>
        <pc:spChg chg="mod">
          <ac:chgData name="Scott Campbell" userId="b7aaa358b220454f" providerId="LiveId" clId="{CC5E7603-76B2-4C4B-A1EF-144213644A14}" dt="2026-06-15T23:35:30.184" v="953" actId="27636"/>
          <ac:spMkLst>
            <pc:docMk/>
            <pc:sldMk cId="232509415" sldId="265"/>
            <ac:spMk id="3" creationId="{B3FC86A2-4074-CD9E-C434-E21A5D456839}"/>
          </ac:spMkLst>
        </pc:spChg>
      </pc:sldChg>
      <pc:sldChg chg="modSp new mod">
        <pc:chgData name="Scott Campbell" userId="b7aaa358b220454f" providerId="LiveId" clId="{CC5E7603-76B2-4C4B-A1EF-144213644A14}" dt="2026-06-15T23:45:18.808" v="963" actId="14100"/>
        <pc:sldMkLst>
          <pc:docMk/>
          <pc:sldMk cId="1878602335" sldId="266"/>
        </pc:sldMkLst>
        <pc:spChg chg="mod">
          <ac:chgData name="Scott Campbell" userId="b7aaa358b220454f" providerId="LiveId" clId="{CC5E7603-76B2-4C4B-A1EF-144213644A14}" dt="2026-06-15T23:45:18.808" v="963" actId="14100"/>
          <ac:spMkLst>
            <pc:docMk/>
            <pc:sldMk cId="1878602335" sldId="266"/>
            <ac:spMk id="2" creationId="{30C8CFFA-63E1-D17A-17DE-21DB8920F796}"/>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E08BE5C-B412-4CFF-92FC-3097DF2EE222}" type="datetimeFigureOut">
              <a:rPr lang="en-US" smtClean="0"/>
              <a:t>6/15/2026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ED43984-EFA2-49B2-8412-793B80E2B224}" type="slidenum">
              <a:rPr lang="en-US" smtClean="0"/>
              <a:t>‹#›</a:t>
            </a:fld>
            <a:endParaRPr lang="en-US"/>
          </a:p>
        </p:txBody>
      </p:sp>
    </p:spTree>
    <p:extLst>
      <p:ext uri="{BB962C8B-B14F-4D97-AF65-F5344CB8AC3E}">
        <p14:creationId xmlns:p14="http://schemas.microsoft.com/office/powerpoint/2010/main" val="8529629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 key difference in Agile SDLC is that all phases occur concurrently within each sprint rather than sequentially across the entire project. A two-week sprint includes requirements refinement, design decisions, implementation, testing, and deployment of working software. This compression of the SDLC into short iterations enables rapid feedback and course correction.</a:t>
            </a:r>
          </a:p>
          <a:p>
            <a:endParaRPr lang="en-US" dirty="0"/>
          </a:p>
        </p:txBody>
      </p:sp>
      <p:sp>
        <p:nvSpPr>
          <p:cNvPr id="4" name="Slide Number Placeholder 3"/>
          <p:cNvSpPr>
            <a:spLocks noGrp="1"/>
          </p:cNvSpPr>
          <p:nvPr>
            <p:ph type="sldNum" sz="quarter" idx="5"/>
          </p:nvPr>
        </p:nvSpPr>
        <p:spPr/>
        <p:txBody>
          <a:bodyPr/>
          <a:lstStyle/>
          <a:p>
            <a:fld id="{0ED43984-EFA2-49B2-8412-793B80E2B224}" type="slidenum">
              <a:rPr lang="en-US" smtClean="0"/>
              <a:t>3</a:t>
            </a:fld>
            <a:endParaRPr lang="en-US"/>
          </a:p>
        </p:txBody>
      </p:sp>
    </p:spTree>
    <p:extLst>
      <p:ext uri="{BB962C8B-B14F-4D97-AF65-F5344CB8AC3E}">
        <p14:creationId xmlns:p14="http://schemas.microsoft.com/office/powerpoint/2010/main" val="35671098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 personalized recommendations feature in SNHU Travel perfectly illustrates </a:t>
            </a:r>
            <a:r>
              <a:rPr lang="en-US" sz="1200" kern="1200" dirty="0" err="1">
                <a:solidFill>
                  <a:schemeClr val="tx1"/>
                </a:solidFill>
                <a:effectLst/>
                <a:latin typeface="+mn-lt"/>
                <a:ea typeface="+mn-ea"/>
                <a:cs typeface="+mn-cs"/>
              </a:rPr>
              <a:t>Agile's</a:t>
            </a:r>
            <a:r>
              <a:rPr lang="en-US" sz="1200" kern="1200" dirty="0">
                <a:solidFill>
                  <a:schemeClr val="tx1"/>
                </a:solidFill>
                <a:effectLst/>
                <a:latin typeface="+mn-lt"/>
                <a:ea typeface="+mn-ea"/>
                <a:cs typeface="+mn-cs"/>
              </a:rPr>
              <a:t> advantage. In Waterfall, this mid-project requirement change would have triggered extensive replanning. In our Agile approach, we simply added it to the backlog and delivered it in the next sprint.</a:t>
            </a:r>
          </a:p>
          <a:p>
            <a:endParaRPr lang="en-US" dirty="0"/>
          </a:p>
        </p:txBody>
      </p:sp>
      <p:sp>
        <p:nvSpPr>
          <p:cNvPr id="4" name="Slide Number Placeholder 3"/>
          <p:cNvSpPr>
            <a:spLocks noGrp="1"/>
          </p:cNvSpPr>
          <p:nvPr>
            <p:ph type="sldNum" sz="quarter" idx="5"/>
          </p:nvPr>
        </p:nvSpPr>
        <p:spPr/>
        <p:txBody>
          <a:bodyPr/>
          <a:lstStyle/>
          <a:p>
            <a:fld id="{0ED43984-EFA2-49B2-8412-793B80E2B224}" type="slidenum">
              <a:rPr lang="en-US" smtClean="0"/>
              <a:t>4</a:t>
            </a:fld>
            <a:endParaRPr lang="en-US"/>
          </a:p>
        </p:txBody>
      </p:sp>
    </p:spTree>
    <p:extLst>
      <p:ext uri="{BB962C8B-B14F-4D97-AF65-F5344CB8AC3E}">
        <p14:creationId xmlns:p14="http://schemas.microsoft.com/office/powerpoint/2010/main" val="6973366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Based on my experience with SNHU Travel, Agile was clearly the right choice. We had evolving requirements—personalization wasn't in the original scope. We needed stakeholder feedback to ensure destination recommendations met user needs. Time-to-market was important. All these factors pointed to Agile.</a:t>
            </a:r>
          </a:p>
          <a:p>
            <a:endParaRPr lang="en-US" dirty="0"/>
          </a:p>
        </p:txBody>
      </p:sp>
      <p:sp>
        <p:nvSpPr>
          <p:cNvPr id="4" name="Slide Number Placeholder 3"/>
          <p:cNvSpPr>
            <a:spLocks noGrp="1"/>
          </p:cNvSpPr>
          <p:nvPr>
            <p:ph type="sldNum" sz="quarter" idx="5"/>
          </p:nvPr>
        </p:nvSpPr>
        <p:spPr/>
        <p:txBody>
          <a:bodyPr/>
          <a:lstStyle/>
          <a:p>
            <a:fld id="{0ED43984-EFA2-49B2-8412-793B80E2B224}" type="slidenum">
              <a:rPr lang="en-US" smtClean="0"/>
              <a:t>5</a:t>
            </a:fld>
            <a:endParaRPr lang="en-US"/>
          </a:p>
        </p:txBody>
      </p:sp>
    </p:spTree>
    <p:extLst>
      <p:ext uri="{BB962C8B-B14F-4D97-AF65-F5344CB8AC3E}">
        <p14:creationId xmlns:p14="http://schemas.microsoft.com/office/powerpoint/2010/main" val="7614033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These aren't theoretical benefits—they're outcomes we experienced on SNHU Travel. The ability to deliver working software in Sprint 1 built stakeholder confidence. When requirements changed with the personalization feature, we adapted seamlessly.</a:t>
            </a:r>
          </a:p>
          <a:p>
            <a:endParaRPr lang="en-US" dirty="0"/>
          </a:p>
        </p:txBody>
      </p:sp>
      <p:sp>
        <p:nvSpPr>
          <p:cNvPr id="4" name="Slide Number Placeholder 3"/>
          <p:cNvSpPr>
            <a:spLocks noGrp="1"/>
          </p:cNvSpPr>
          <p:nvPr>
            <p:ph type="sldNum" sz="quarter" idx="5"/>
          </p:nvPr>
        </p:nvSpPr>
        <p:spPr/>
        <p:txBody>
          <a:bodyPr/>
          <a:lstStyle/>
          <a:p>
            <a:fld id="{0ED43984-EFA2-49B2-8412-793B80E2B224}" type="slidenum">
              <a:rPr lang="en-US" smtClean="0"/>
              <a:t>6</a:t>
            </a:fld>
            <a:endParaRPr lang="en-US"/>
          </a:p>
        </p:txBody>
      </p:sp>
    </p:spTree>
    <p:extLst>
      <p:ext uri="{BB962C8B-B14F-4D97-AF65-F5344CB8AC3E}">
        <p14:creationId xmlns:p14="http://schemas.microsoft.com/office/powerpoint/2010/main" val="40090359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Agile isn't a silver bullet—it presents real challenges. On SNHU Travel, we experienced all of these to some degree. What made us successful was our willingness to adapt our Agile practices during retrospectives.</a:t>
            </a:r>
          </a:p>
          <a:p>
            <a:endParaRPr lang="en-US" dirty="0"/>
          </a:p>
        </p:txBody>
      </p:sp>
      <p:sp>
        <p:nvSpPr>
          <p:cNvPr id="4" name="Slide Number Placeholder 3"/>
          <p:cNvSpPr>
            <a:spLocks noGrp="1"/>
          </p:cNvSpPr>
          <p:nvPr>
            <p:ph type="sldNum" sz="quarter" idx="5"/>
          </p:nvPr>
        </p:nvSpPr>
        <p:spPr/>
        <p:txBody>
          <a:bodyPr/>
          <a:lstStyle/>
          <a:p>
            <a:fld id="{0ED43984-EFA2-49B2-8412-793B80E2B224}" type="slidenum">
              <a:rPr lang="en-US" smtClean="0"/>
              <a:t>7</a:t>
            </a:fld>
            <a:endParaRPr lang="en-US"/>
          </a:p>
        </p:txBody>
      </p:sp>
    </p:spTree>
    <p:extLst>
      <p:ext uri="{BB962C8B-B14F-4D97-AF65-F5344CB8AC3E}">
        <p14:creationId xmlns:p14="http://schemas.microsoft.com/office/powerpoint/2010/main" val="28244786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These ceremonies aren't bureaucratic overhead—they're the heartbeat of Agile collaboration. Daily stand-ups caught our icon blocker before it became a multi-day delay. Sprint Reviews generated the personalization idea that differentiated our product.</a:t>
            </a:r>
          </a:p>
          <a:p>
            <a:endParaRPr lang="en-US" dirty="0"/>
          </a:p>
        </p:txBody>
      </p:sp>
      <p:sp>
        <p:nvSpPr>
          <p:cNvPr id="4" name="Slide Number Placeholder 3"/>
          <p:cNvSpPr>
            <a:spLocks noGrp="1"/>
          </p:cNvSpPr>
          <p:nvPr>
            <p:ph type="sldNum" sz="quarter" idx="5"/>
          </p:nvPr>
        </p:nvSpPr>
        <p:spPr/>
        <p:txBody>
          <a:bodyPr/>
          <a:lstStyle/>
          <a:p>
            <a:fld id="{0ED43984-EFA2-49B2-8412-793B80E2B224}" type="slidenum">
              <a:rPr lang="en-US" smtClean="0"/>
              <a:t>8</a:t>
            </a:fld>
            <a:endParaRPr lang="en-US"/>
          </a:p>
        </p:txBody>
      </p:sp>
    </p:spTree>
    <p:extLst>
      <p:ext uri="{BB962C8B-B14F-4D97-AF65-F5344CB8AC3E}">
        <p14:creationId xmlns:p14="http://schemas.microsoft.com/office/powerpoint/2010/main" val="15646190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Agile is fundamentally a cultural shift, not just a process change. SNHU Travel worked because we genuinely collaborated, welcomed feedback, and adapted continuously. Organizations must invest in training and accept an initial productivity dip during the learning curve.</a:t>
            </a:r>
          </a:p>
          <a:p>
            <a:endParaRPr lang="en-US" sz="1200" dirty="0"/>
          </a:p>
        </p:txBody>
      </p:sp>
      <p:sp>
        <p:nvSpPr>
          <p:cNvPr id="4" name="Slide Number Placeholder 3"/>
          <p:cNvSpPr>
            <a:spLocks noGrp="1"/>
          </p:cNvSpPr>
          <p:nvPr>
            <p:ph type="sldNum" sz="quarter" idx="5"/>
          </p:nvPr>
        </p:nvSpPr>
        <p:spPr/>
        <p:txBody>
          <a:bodyPr/>
          <a:lstStyle/>
          <a:p>
            <a:fld id="{0ED43984-EFA2-49B2-8412-793B80E2B224}" type="slidenum">
              <a:rPr lang="en-US" smtClean="0"/>
              <a:t>9</a:t>
            </a:fld>
            <a:endParaRPr lang="en-US"/>
          </a:p>
        </p:txBody>
      </p:sp>
    </p:spTree>
    <p:extLst>
      <p:ext uri="{BB962C8B-B14F-4D97-AF65-F5344CB8AC3E}">
        <p14:creationId xmlns:p14="http://schemas.microsoft.com/office/powerpoint/2010/main" val="20407737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F7390A-718E-7325-84C4-433CA1B365D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C3476D3-0E8A-2755-9928-9CBF0ED5F92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21159FE-3F28-690C-6985-6B145400C965}"/>
              </a:ext>
            </a:extLst>
          </p:cNvPr>
          <p:cNvSpPr>
            <a:spLocks noGrp="1"/>
          </p:cNvSpPr>
          <p:nvPr>
            <p:ph type="dt" sz="half" idx="10"/>
          </p:nvPr>
        </p:nvSpPr>
        <p:spPr/>
        <p:txBody>
          <a:bodyPr/>
          <a:lstStyle/>
          <a:p>
            <a:fld id="{927F9991-C3CE-4BC3-B28B-D2380B479E07}" type="datetimeFigureOut">
              <a:rPr lang="en-US" smtClean="0"/>
              <a:t>6/15/2026</a:t>
            </a:fld>
            <a:endParaRPr lang="en-US"/>
          </a:p>
        </p:txBody>
      </p:sp>
      <p:sp>
        <p:nvSpPr>
          <p:cNvPr id="5" name="Footer Placeholder 4">
            <a:extLst>
              <a:ext uri="{FF2B5EF4-FFF2-40B4-BE49-F238E27FC236}">
                <a16:creationId xmlns:a16="http://schemas.microsoft.com/office/drawing/2014/main" id="{B4392782-9A51-3800-DF27-80F9E296F4A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AC10C7-4729-382D-4513-A0CC59788741}"/>
              </a:ext>
            </a:extLst>
          </p:cNvPr>
          <p:cNvSpPr>
            <a:spLocks noGrp="1"/>
          </p:cNvSpPr>
          <p:nvPr>
            <p:ph type="sldNum" sz="quarter" idx="12"/>
          </p:nvPr>
        </p:nvSpPr>
        <p:spPr/>
        <p:txBody>
          <a:bodyPr/>
          <a:lstStyle/>
          <a:p>
            <a:fld id="{A0A24865-A219-4255-A19B-0D40E503717E}" type="slidenum">
              <a:rPr lang="en-US" smtClean="0"/>
              <a:t>‹#›</a:t>
            </a:fld>
            <a:endParaRPr lang="en-US"/>
          </a:p>
        </p:txBody>
      </p:sp>
    </p:spTree>
    <p:extLst>
      <p:ext uri="{BB962C8B-B14F-4D97-AF65-F5344CB8AC3E}">
        <p14:creationId xmlns:p14="http://schemas.microsoft.com/office/powerpoint/2010/main" val="24417275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292464-54F2-54C4-EFCE-9130A07F5A6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3CB7D11-75D0-8150-0E27-E4B6FA66F98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5EB7C2F-A4A0-D8FB-6EA8-DDFE6E0FC426}"/>
              </a:ext>
            </a:extLst>
          </p:cNvPr>
          <p:cNvSpPr>
            <a:spLocks noGrp="1"/>
          </p:cNvSpPr>
          <p:nvPr>
            <p:ph type="dt" sz="half" idx="10"/>
          </p:nvPr>
        </p:nvSpPr>
        <p:spPr/>
        <p:txBody>
          <a:bodyPr/>
          <a:lstStyle/>
          <a:p>
            <a:fld id="{927F9991-C3CE-4BC3-B28B-D2380B479E07}" type="datetimeFigureOut">
              <a:rPr lang="en-US" smtClean="0"/>
              <a:t>6/15/2026</a:t>
            </a:fld>
            <a:endParaRPr lang="en-US"/>
          </a:p>
        </p:txBody>
      </p:sp>
      <p:sp>
        <p:nvSpPr>
          <p:cNvPr id="5" name="Footer Placeholder 4">
            <a:extLst>
              <a:ext uri="{FF2B5EF4-FFF2-40B4-BE49-F238E27FC236}">
                <a16:creationId xmlns:a16="http://schemas.microsoft.com/office/drawing/2014/main" id="{09F08878-241F-937F-E932-6E0AE6A121C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21FEF16-F877-6EB7-D130-3D3FE09D6616}"/>
              </a:ext>
            </a:extLst>
          </p:cNvPr>
          <p:cNvSpPr>
            <a:spLocks noGrp="1"/>
          </p:cNvSpPr>
          <p:nvPr>
            <p:ph type="sldNum" sz="quarter" idx="12"/>
          </p:nvPr>
        </p:nvSpPr>
        <p:spPr/>
        <p:txBody>
          <a:bodyPr/>
          <a:lstStyle/>
          <a:p>
            <a:fld id="{A0A24865-A219-4255-A19B-0D40E503717E}" type="slidenum">
              <a:rPr lang="en-US" smtClean="0"/>
              <a:t>‹#›</a:t>
            </a:fld>
            <a:endParaRPr lang="en-US"/>
          </a:p>
        </p:txBody>
      </p:sp>
    </p:spTree>
    <p:extLst>
      <p:ext uri="{BB962C8B-B14F-4D97-AF65-F5344CB8AC3E}">
        <p14:creationId xmlns:p14="http://schemas.microsoft.com/office/powerpoint/2010/main" val="38787530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4017E4-8E00-88F3-CCA9-884AAD2868E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E2597CA-90E4-70B2-A36C-AFA56DBFB75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E133C76-AF24-8F93-1189-727E95FE25B1}"/>
              </a:ext>
            </a:extLst>
          </p:cNvPr>
          <p:cNvSpPr>
            <a:spLocks noGrp="1"/>
          </p:cNvSpPr>
          <p:nvPr>
            <p:ph type="dt" sz="half" idx="10"/>
          </p:nvPr>
        </p:nvSpPr>
        <p:spPr/>
        <p:txBody>
          <a:bodyPr/>
          <a:lstStyle/>
          <a:p>
            <a:fld id="{927F9991-C3CE-4BC3-B28B-D2380B479E07}" type="datetimeFigureOut">
              <a:rPr lang="en-US" smtClean="0"/>
              <a:t>6/15/2026</a:t>
            </a:fld>
            <a:endParaRPr lang="en-US"/>
          </a:p>
        </p:txBody>
      </p:sp>
      <p:sp>
        <p:nvSpPr>
          <p:cNvPr id="5" name="Footer Placeholder 4">
            <a:extLst>
              <a:ext uri="{FF2B5EF4-FFF2-40B4-BE49-F238E27FC236}">
                <a16:creationId xmlns:a16="http://schemas.microsoft.com/office/drawing/2014/main" id="{6090322F-A5C4-7D4C-F0BB-FB2A20A2703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FFBE461-E794-33C9-22A5-A845777CBB21}"/>
              </a:ext>
            </a:extLst>
          </p:cNvPr>
          <p:cNvSpPr>
            <a:spLocks noGrp="1"/>
          </p:cNvSpPr>
          <p:nvPr>
            <p:ph type="sldNum" sz="quarter" idx="12"/>
          </p:nvPr>
        </p:nvSpPr>
        <p:spPr/>
        <p:txBody>
          <a:bodyPr/>
          <a:lstStyle/>
          <a:p>
            <a:fld id="{A0A24865-A219-4255-A19B-0D40E503717E}" type="slidenum">
              <a:rPr lang="en-US" smtClean="0"/>
              <a:t>‹#›</a:t>
            </a:fld>
            <a:endParaRPr lang="en-US"/>
          </a:p>
        </p:txBody>
      </p:sp>
    </p:spTree>
    <p:extLst>
      <p:ext uri="{BB962C8B-B14F-4D97-AF65-F5344CB8AC3E}">
        <p14:creationId xmlns:p14="http://schemas.microsoft.com/office/powerpoint/2010/main" val="13087551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7FC1C2-A688-813A-93AE-770206589A2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8398348-2B3A-8A01-30C5-32F3D8633F6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A07B73A-FD06-9E93-AFE0-B84528CE7B9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C96AE00-059B-1584-BC08-BC532C0EB7B6}"/>
              </a:ext>
            </a:extLst>
          </p:cNvPr>
          <p:cNvSpPr>
            <a:spLocks noGrp="1"/>
          </p:cNvSpPr>
          <p:nvPr>
            <p:ph type="dt" sz="half" idx="10"/>
          </p:nvPr>
        </p:nvSpPr>
        <p:spPr/>
        <p:txBody>
          <a:bodyPr/>
          <a:lstStyle/>
          <a:p>
            <a:fld id="{927F9991-C3CE-4BC3-B28B-D2380B479E07}" type="datetimeFigureOut">
              <a:rPr lang="en-US" smtClean="0"/>
              <a:t>6/15/2026</a:t>
            </a:fld>
            <a:endParaRPr lang="en-US"/>
          </a:p>
        </p:txBody>
      </p:sp>
      <p:sp>
        <p:nvSpPr>
          <p:cNvPr id="6" name="Footer Placeholder 5">
            <a:extLst>
              <a:ext uri="{FF2B5EF4-FFF2-40B4-BE49-F238E27FC236}">
                <a16:creationId xmlns:a16="http://schemas.microsoft.com/office/drawing/2014/main" id="{CCC49189-61AA-A22C-1C8B-CA8021A1C89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1648CF8-029B-6482-FEF3-3B954C6C4BF4}"/>
              </a:ext>
            </a:extLst>
          </p:cNvPr>
          <p:cNvSpPr>
            <a:spLocks noGrp="1"/>
          </p:cNvSpPr>
          <p:nvPr>
            <p:ph type="sldNum" sz="quarter" idx="12"/>
          </p:nvPr>
        </p:nvSpPr>
        <p:spPr/>
        <p:txBody>
          <a:bodyPr/>
          <a:lstStyle/>
          <a:p>
            <a:fld id="{A0A24865-A219-4255-A19B-0D40E503717E}" type="slidenum">
              <a:rPr lang="en-US" smtClean="0"/>
              <a:t>‹#›</a:t>
            </a:fld>
            <a:endParaRPr lang="en-US"/>
          </a:p>
        </p:txBody>
      </p:sp>
    </p:spTree>
    <p:extLst>
      <p:ext uri="{BB962C8B-B14F-4D97-AF65-F5344CB8AC3E}">
        <p14:creationId xmlns:p14="http://schemas.microsoft.com/office/powerpoint/2010/main" val="6086789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298C9-8560-290A-932D-91666129599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5BD174A-BBB2-BB7C-307C-D4499D06B42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D147D26-3C5F-62C2-C0F0-37AC3E1DB6E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500DB96-20A2-D078-5039-241D17FCE26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D66B951-8234-61C0-5DCC-453968C886A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C620871-4B5B-33FC-0787-3BF3A1B9898D}"/>
              </a:ext>
            </a:extLst>
          </p:cNvPr>
          <p:cNvSpPr>
            <a:spLocks noGrp="1"/>
          </p:cNvSpPr>
          <p:nvPr>
            <p:ph type="dt" sz="half" idx="10"/>
          </p:nvPr>
        </p:nvSpPr>
        <p:spPr/>
        <p:txBody>
          <a:bodyPr/>
          <a:lstStyle/>
          <a:p>
            <a:fld id="{927F9991-C3CE-4BC3-B28B-D2380B479E07}" type="datetimeFigureOut">
              <a:rPr lang="en-US" smtClean="0"/>
              <a:t>6/15/2026</a:t>
            </a:fld>
            <a:endParaRPr lang="en-US"/>
          </a:p>
        </p:txBody>
      </p:sp>
      <p:sp>
        <p:nvSpPr>
          <p:cNvPr id="8" name="Footer Placeholder 7">
            <a:extLst>
              <a:ext uri="{FF2B5EF4-FFF2-40B4-BE49-F238E27FC236}">
                <a16:creationId xmlns:a16="http://schemas.microsoft.com/office/drawing/2014/main" id="{13E9C16B-4BD2-F6CE-A555-8B4A73F4670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BF62E75-DB6D-2579-1727-01B6CDBC5945}"/>
              </a:ext>
            </a:extLst>
          </p:cNvPr>
          <p:cNvSpPr>
            <a:spLocks noGrp="1"/>
          </p:cNvSpPr>
          <p:nvPr>
            <p:ph type="sldNum" sz="quarter" idx="12"/>
          </p:nvPr>
        </p:nvSpPr>
        <p:spPr/>
        <p:txBody>
          <a:bodyPr/>
          <a:lstStyle/>
          <a:p>
            <a:fld id="{A0A24865-A219-4255-A19B-0D40E503717E}" type="slidenum">
              <a:rPr lang="en-US" smtClean="0"/>
              <a:t>‹#›</a:t>
            </a:fld>
            <a:endParaRPr lang="en-US"/>
          </a:p>
        </p:txBody>
      </p:sp>
    </p:spTree>
    <p:extLst>
      <p:ext uri="{BB962C8B-B14F-4D97-AF65-F5344CB8AC3E}">
        <p14:creationId xmlns:p14="http://schemas.microsoft.com/office/powerpoint/2010/main" val="29144515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7F1D12-FBC4-741F-76C6-2779ECACD80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2D59A43-F3DC-0840-ED14-609978540D38}"/>
              </a:ext>
            </a:extLst>
          </p:cNvPr>
          <p:cNvSpPr>
            <a:spLocks noGrp="1"/>
          </p:cNvSpPr>
          <p:nvPr>
            <p:ph type="dt" sz="half" idx="10"/>
          </p:nvPr>
        </p:nvSpPr>
        <p:spPr/>
        <p:txBody>
          <a:bodyPr/>
          <a:lstStyle/>
          <a:p>
            <a:fld id="{927F9991-C3CE-4BC3-B28B-D2380B479E07}" type="datetimeFigureOut">
              <a:rPr lang="en-US" smtClean="0"/>
              <a:t>6/15/2026</a:t>
            </a:fld>
            <a:endParaRPr lang="en-US"/>
          </a:p>
        </p:txBody>
      </p:sp>
      <p:sp>
        <p:nvSpPr>
          <p:cNvPr id="4" name="Footer Placeholder 3">
            <a:extLst>
              <a:ext uri="{FF2B5EF4-FFF2-40B4-BE49-F238E27FC236}">
                <a16:creationId xmlns:a16="http://schemas.microsoft.com/office/drawing/2014/main" id="{F2FB579B-F9B2-ACF6-D794-B1C64A0E2B4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16404B1-5FD3-AD23-238D-7F2F63EACA0F}"/>
              </a:ext>
            </a:extLst>
          </p:cNvPr>
          <p:cNvSpPr>
            <a:spLocks noGrp="1"/>
          </p:cNvSpPr>
          <p:nvPr>
            <p:ph type="sldNum" sz="quarter" idx="12"/>
          </p:nvPr>
        </p:nvSpPr>
        <p:spPr/>
        <p:txBody>
          <a:bodyPr/>
          <a:lstStyle/>
          <a:p>
            <a:fld id="{A0A24865-A219-4255-A19B-0D40E503717E}" type="slidenum">
              <a:rPr lang="en-US" smtClean="0"/>
              <a:t>‹#›</a:t>
            </a:fld>
            <a:endParaRPr lang="en-US"/>
          </a:p>
        </p:txBody>
      </p:sp>
    </p:spTree>
    <p:extLst>
      <p:ext uri="{BB962C8B-B14F-4D97-AF65-F5344CB8AC3E}">
        <p14:creationId xmlns:p14="http://schemas.microsoft.com/office/powerpoint/2010/main" val="31512831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8D04F96-D34E-112A-06AC-1C9F3FCB5C72}"/>
              </a:ext>
            </a:extLst>
          </p:cNvPr>
          <p:cNvSpPr>
            <a:spLocks noGrp="1"/>
          </p:cNvSpPr>
          <p:nvPr>
            <p:ph type="dt" sz="half" idx="10"/>
          </p:nvPr>
        </p:nvSpPr>
        <p:spPr/>
        <p:txBody>
          <a:bodyPr/>
          <a:lstStyle/>
          <a:p>
            <a:fld id="{927F9991-C3CE-4BC3-B28B-D2380B479E07}" type="datetimeFigureOut">
              <a:rPr lang="en-US" smtClean="0"/>
              <a:t>6/15/2026</a:t>
            </a:fld>
            <a:endParaRPr lang="en-US"/>
          </a:p>
        </p:txBody>
      </p:sp>
      <p:sp>
        <p:nvSpPr>
          <p:cNvPr id="3" name="Footer Placeholder 2">
            <a:extLst>
              <a:ext uri="{FF2B5EF4-FFF2-40B4-BE49-F238E27FC236}">
                <a16:creationId xmlns:a16="http://schemas.microsoft.com/office/drawing/2014/main" id="{27B6D17C-B7DF-05B3-8E51-8538D452558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208CBDD-A5A4-2184-D869-541B6C28D7AE}"/>
              </a:ext>
            </a:extLst>
          </p:cNvPr>
          <p:cNvSpPr>
            <a:spLocks noGrp="1"/>
          </p:cNvSpPr>
          <p:nvPr>
            <p:ph type="sldNum" sz="quarter" idx="12"/>
          </p:nvPr>
        </p:nvSpPr>
        <p:spPr/>
        <p:txBody>
          <a:bodyPr/>
          <a:lstStyle/>
          <a:p>
            <a:fld id="{A0A24865-A219-4255-A19B-0D40E503717E}" type="slidenum">
              <a:rPr lang="en-US" smtClean="0"/>
              <a:t>‹#›</a:t>
            </a:fld>
            <a:endParaRPr lang="en-US"/>
          </a:p>
        </p:txBody>
      </p:sp>
    </p:spTree>
    <p:extLst>
      <p:ext uri="{BB962C8B-B14F-4D97-AF65-F5344CB8AC3E}">
        <p14:creationId xmlns:p14="http://schemas.microsoft.com/office/powerpoint/2010/main" val="15304411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9A4E80-CA85-A71E-6B79-33982B80428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3B1F021-D318-37B5-6EB0-1762E049A27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5F1764A-E887-8A6F-7E3B-45890C50A49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B04AF7C-E403-741E-687A-81B17F036302}"/>
              </a:ext>
            </a:extLst>
          </p:cNvPr>
          <p:cNvSpPr>
            <a:spLocks noGrp="1"/>
          </p:cNvSpPr>
          <p:nvPr>
            <p:ph type="dt" sz="half" idx="10"/>
          </p:nvPr>
        </p:nvSpPr>
        <p:spPr/>
        <p:txBody>
          <a:bodyPr/>
          <a:lstStyle/>
          <a:p>
            <a:fld id="{927F9991-C3CE-4BC3-B28B-D2380B479E07}" type="datetimeFigureOut">
              <a:rPr lang="en-US" smtClean="0"/>
              <a:t>6/15/2026</a:t>
            </a:fld>
            <a:endParaRPr lang="en-US"/>
          </a:p>
        </p:txBody>
      </p:sp>
      <p:sp>
        <p:nvSpPr>
          <p:cNvPr id="6" name="Footer Placeholder 5">
            <a:extLst>
              <a:ext uri="{FF2B5EF4-FFF2-40B4-BE49-F238E27FC236}">
                <a16:creationId xmlns:a16="http://schemas.microsoft.com/office/drawing/2014/main" id="{040970E4-C40A-C795-DE1F-CAEBBEEB0B9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FF9B2D2-C1FE-5E8F-A86F-D4F75D51B3C0}"/>
              </a:ext>
            </a:extLst>
          </p:cNvPr>
          <p:cNvSpPr>
            <a:spLocks noGrp="1"/>
          </p:cNvSpPr>
          <p:nvPr>
            <p:ph type="sldNum" sz="quarter" idx="12"/>
          </p:nvPr>
        </p:nvSpPr>
        <p:spPr/>
        <p:txBody>
          <a:bodyPr/>
          <a:lstStyle/>
          <a:p>
            <a:fld id="{A0A24865-A219-4255-A19B-0D40E503717E}" type="slidenum">
              <a:rPr lang="en-US" smtClean="0"/>
              <a:t>‹#›</a:t>
            </a:fld>
            <a:endParaRPr lang="en-US"/>
          </a:p>
        </p:txBody>
      </p:sp>
    </p:spTree>
    <p:extLst>
      <p:ext uri="{BB962C8B-B14F-4D97-AF65-F5344CB8AC3E}">
        <p14:creationId xmlns:p14="http://schemas.microsoft.com/office/powerpoint/2010/main" val="23219559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52DEA2-B986-9A74-51F9-907988C4B38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8F8ED9A-A984-FDDB-1368-C0A66C90304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616E3D1-0B2E-4890-6A57-1A96D93F335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A39EAAB-5A52-6E39-BDA8-00158B35EDAE}"/>
              </a:ext>
            </a:extLst>
          </p:cNvPr>
          <p:cNvSpPr>
            <a:spLocks noGrp="1"/>
          </p:cNvSpPr>
          <p:nvPr>
            <p:ph type="dt" sz="half" idx="10"/>
          </p:nvPr>
        </p:nvSpPr>
        <p:spPr/>
        <p:txBody>
          <a:bodyPr/>
          <a:lstStyle/>
          <a:p>
            <a:fld id="{927F9991-C3CE-4BC3-B28B-D2380B479E07}" type="datetimeFigureOut">
              <a:rPr lang="en-US" smtClean="0"/>
              <a:t>6/15/2026</a:t>
            </a:fld>
            <a:endParaRPr lang="en-US"/>
          </a:p>
        </p:txBody>
      </p:sp>
      <p:sp>
        <p:nvSpPr>
          <p:cNvPr id="6" name="Footer Placeholder 5">
            <a:extLst>
              <a:ext uri="{FF2B5EF4-FFF2-40B4-BE49-F238E27FC236}">
                <a16:creationId xmlns:a16="http://schemas.microsoft.com/office/drawing/2014/main" id="{D6B866D0-AE08-0670-4764-5B8B6D2F410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61F660F-0BD3-486D-4F47-41112398BD83}"/>
              </a:ext>
            </a:extLst>
          </p:cNvPr>
          <p:cNvSpPr>
            <a:spLocks noGrp="1"/>
          </p:cNvSpPr>
          <p:nvPr>
            <p:ph type="sldNum" sz="quarter" idx="12"/>
          </p:nvPr>
        </p:nvSpPr>
        <p:spPr/>
        <p:txBody>
          <a:bodyPr/>
          <a:lstStyle/>
          <a:p>
            <a:fld id="{A0A24865-A219-4255-A19B-0D40E503717E}" type="slidenum">
              <a:rPr lang="en-US" smtClean="0"/>
              <a:t>‹#›</a:t>
            </a:fld>
            <a:endParaRPr lang="en-US"/>
          </a:p>
        </p:txBody>
      </p:sp>
    </p:spTree>
    <p:extLst>
      <p:ext uri="{BB962C8B-B14F-4D97-AF65-F5344CB8AC3E}">
        <p14:creationId xmlns:p14="http://schemas.microsoft.com/office/powerpoint/2010/main" val="12912718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872634-EAB7-6B02-FC4C-613A63A7B64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9720310-3092-5B35-87D7-069A93153E0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35355FB-0C7D-60B4-572B-A7597784EE92}"/>
              </a:ext>
            </a:extLst>
          </p:cNvPr>
          <p:cNvSpPr>
            <a:spLocks noGrp="1"/>
          </p:cNvSpPr>
          <p:nvPr>
            <p:ph type="dt" sz="half" idx="10"/>
          </p:nvPr>
        </p:nvSpPr>
        <p:spPr/>
        <p:txBody>
          <a:bodyPr/>
          <a:lstStyle/>
          <a:p>
            <a:fld id="{927F9991-C3CE-4BC3-B28B-D2380B479E07}" type="datetimeFigureOut">
              <a:rPr lang="en-US" smtClean="0"/>
              <a:t>6/15/2026</a:t>
            </a:fld>
            <a:endParaRPr lang="en-US"/>
          </a:p>
        </p:txBody>
      </p:sp>
      <p:sp>
        <p:nvSpPr>
          <p:cNvPr id="5" name="Footer Placeholder 4">
            <a:extLst>
              <a:ext uri="{FF2B5EF4-FFF2-40B4-BE49-F238E27FC236}">
                <a16:creationId xmlns:a16="http://schemas.microsoft.com/office/drawing/2014/main" id="{E8C2F28B-2740-8D51-CA15-E3CD2A0AACA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12E26E6-D9C0-7881-8317-CB5DDED2B63E}"/>
              </a:ext>
            </a:extLst>
          </p:cNvPr>
          <p:cNvSpPr>
            <a:spLocks noGrp="1"/>
          </p:cNvSpPr>
          <p:nvPr>
            <p:ph type="sldNum" sz="quarter" idx="12"/>
          </p:nvPr>
        </p:nvSpPr>
        <p:spPr/>
        <p:txBody>
          <a:bodyPr/>
          <a:lstStyle/>
          <a:p>
            <a:fld id="{A0A24865-A219-4255-A19B-0D40E503717E}" type="slidenum">
              <a:rPr lang="en-US" smtClean="0"/>
              <a:t>‹#›</a:t>
            </a:fld>
            <a:endParaRPr lang="en-US"/>
          </a:p>
        </p:txBody>
      </p:sp>
    </p:spTree>
    <p:extLst>
      <p:ext uri="{BB962C8B-B14F-4D97-AF65-F5344CB8AC3E}">
        <p14:creationId xmlns:p14="http://schemas.microsoft.com/office/powerpoint/2010/main" val="19971273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DD9D90F-1D8F-8400-E3DB-F779EFBE4B3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A858898-EA5D-49AF-65B3-CA48255F658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6E4E18A-A270-5115-09C0-7FD30351FB9D}"/>
              </a:ext>
            </a:extLst>
          </p:cNvPr>
          <p:cNvSpPr>
            <a:spLocks noGrp="1"/>
          </p:cNvSpPr>
          <p:nvPr>
            <p:ph type="dt" sz="half" idx="10"/>
          </p:nvPr>
        </p:nvSpPr>
        <p:spPr/>
        <p:txBody>
          <a:bodyPr/>
          <a:lstStyle/>
          <a:p>
            <a:fld id="{927F9991-C3CE-4BC3-B28B-D2380B479E07}" type="datetimeFigureOut">
              <a:rPr lang="en-US" smtClean="0"/>
              <a:t>6/15/2026</a:t>
            </a:fld>
            <a:endParaRPr lang="en-US"/>
          </a:p>
        </p:txBody>
      </p:sp>
      <p:sp>
        <p:nvSpPr>
          <p:cNvPr id="5" name="Footer Placeholder 4">
            <a:extLst>
              <a:ext uri="{FF2B5EF4-FFF2-40B4-BE49-F238E27FC236}">
                <a16:creationId xmlns:a16="http://schemas.microsoft.com/office/drawing/2014/main" id="{8E6973AE-D30B-9BEB-197F-9A081A18E6A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87C747D-D838-AE56-3D67-AC4A62D43425}"/>
              </a:ext>
            </a:extLst>
          </p:cNvPr>
          <p:cNvSpPr>
            <a:spLocks noGrp="1"/>
          </p:cNvSpPr>
          <p:nvPr>
            <p:ph type="sldNum" sz="quarter" idx="12"/>
          </p:nvPr>
        </p:nvSpPr>
        <p:spPr/>
        <p:txBody>
          <a:bodyPr/>
          <a:lstStyle/>
          <a:p>
            <a:fld id="{A0A24865-A219-4255-A19B-0D40E503717E}" type="slidenum">
              <a:rPr lang="en-US" smtClean="0"/>
              <a:t>‹#›</a:t>
            </a:fld>
            <a:endParaRPr lang="en-US"/>
          </a:p>
        </p:txBody>
      </p:sp>
    </p:spTree>
    <p:extLst>
      <p:ext uri="{BB962C8B-B14F-4D97-AF65-F5344CB8AC3E}">
        <p14:creationId xmlns:p14="http://schemas.microsoft.com/office/powerpoint/2010/main" val="28823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EAE40B0-64C2-858F-CD03-897CCB5C930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7C3ACB1-366D-0BAC-92ED-943CBC2CC3C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C33FB46-F048-1EFF-956E-B676B30A6D3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27F9991-C3CE-4BC3-B28B-D2380B479E07}" type="datetimeFigureOut">
              <a:rPr lang="en-US" smtClean="0"/>
              <a:t>6/15/2026</a:t>
            </a:fld>
            <a:endParaRPr lang="en-US"/>
          </a:p>
        </p:txBody>
      </p:sp>
      <p:sp>
        <p:nvSpPr>
          <p:cNvPr id="5" name="Footer Placeholder 4">
            <a:extLst>
              <a:ext uri="{FF2B5EF4-FFF2-40B4-BE49-F238E27FC236}">
                <a16:creationId xmlns:a16="http://schemas.microsoft.com/office/drawing/2014/main" id="{9A760C07-2371-36A1-4280-D00C13554E6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EBD7CCD-4B5E-8123-FF2A-1522C105E4D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0A24865-A219-4255-A19B-0D40E503717E}" type="slidenum">
              <a:rPr lang="en-US" smtClean="0"/>
              <a:t>‹#›</a:t>
            </a:fld>
            <a:endParaRPr lang="en-US"/>
          </a:p>
        </p:txBody>
      </p:sp>
    </p:spTree>
    <p:extLst>
      <p:ext uri="{BB962C8B-B14F-4D97-AF65-F5344CB8AC3E}">
        <p14:creationId xmlns:p14="http://schemas.microsoft.com/office/powerpoint/2010/main" val="143832703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7B2DE5-1B44-A734-BD75-EA520EF6371B}"/>
              </a:ext>
            </a:extLst>
          </p:cNvPr>
          <p:cNvSpPr>
            <a:spLocks noGrp="1"/>
          </p:cNvSpPr>
          <p:nvPr>
            <p:ph type="ctrTitle"/>
          </p:nvPr>
        </p:nvSpPr>
        <p:spPr/>
        <p:txBody>
          <a:bodyPr>
            <a:normAutofit fontScale="90000"/>
          </a:bodyPr>
          <a:lstStyle/>
          <a:p>
            <a:r>
              <a:rPr lang="en-US" dirty="0"/>
              <a:t>Understanding Agile-Scrum: A Modern Approach to Software Development</a:t>
            </a:r>
          </a:p>
        </p:txBody>
      </p:sp>
      <p:sp>
        <p:nvSpPr>
          <p:cNvPr id="3" name="Subtitle 2">
            <a:extLst>
              <a:ext uri="{FF2B5EF4-FFF2-40B4-BE49-F238E27FC236}">
                <a16:creationId xmlns:a16="http://schemas.microsoft.com/office/drawing/2014/main" id="{41D2E561-F78A-079D-6DB5-DC7CF34A2335}"/>
              </a:ext>
            </a:extLst>
          </p:cNvPr>
          <p:cNvSpPr>
            <a:spLocks noGrp="1"/>
          </p:cNvSpPr>
          <p:nvPr>
            <p:ph type="subTitle" idx="1"/>
          </p:nvPr>
        </p:nvSpPr>
        <p:spPr/>
        <p:txBody>
          <a:bodyPr>
            <a:normAutofit fontScale="92500" lnSpcReduction="20000"/>
          </a:bodyPr>
          <a:lstStyle/>
          <a:p>
            <a:r>
              <a:rPr lang="en-US" dirty="0"/>
              <a:t>Comparing Agile and Waterfall Methodologies</a:t>
            </a:r>
          </a:p>
          <a:p>
            <a:r>
              <a:rPr lang="en-US" dirty="0"/>
              <a:t>Scott Campbell</a:t>
            </a:r>
          </a:p>
          <a:p>
            <a:r>
              <a:rPr lang="en-US" dirty="0"/>
              <a:t>CS-250: Software Development Lifecycle Southern New Hampshire University</a:t>
            </a:r>
          </a:p>
          <a:p>
            <a:r>
              <a:rPr lang="en-US" dirty="0"/>
              <a:t>June 19, 2026</a:t>
            </a:r>
          </a:p>
          <a:p>
            <a:endParaRPr lang="en-US" dirty="0"/>
          </a:p>
        </p:txBody>
      </p:sp>
    </p:spTree>
    <p:extLst>
      <p:ext uri="{BB962C8B-B14F-4D97-AF65-F5344CB8AC3E}">
        <p14:creationId xmlns:p14="http://schemas.microsoft.com/office/powerpoint/2010/main" val="8689584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EE5CB0-5861-AB75-41D0-90C30F554376}"/>
              </a:ext>
            </a:extLst>
          </p:cNvPr>
          <p:cNvSpPr>
            <a:spLocks noGrp="1"/>
          </p:cNvSpPr>
          <p:nvPr>
            <p:ph type="title"/>
          </p:nvPr>
        </p:nvSpPr>
        <p:spPr/>
        <p:txBody>
          <a:bodyPr/>
          <a:lstStyle/>
          <a:p>
            <a:r>
              <a:rPr lang="en-US" dirty="0"/>
              <a:t>Key Roles in a Scrum-Agile Team</a:t>
            </a:r>
          </a:p>
        </p:txBody>
      </p:sp>
      <p:sp>
        <p:nvSpPr>
          <p:cNvPr id="3" name="Content Placeholder 2">
            <a:extLst>
              <a:ext uri="{FF2B5EF4-FFF2-40B4-BE49-F238E27FC236}">
                <a16:creationId xmlns:a16="http://schemas.microsoft.com/office/drawing/2014/main" id="{B3FC86A2-4074-CD9E-C434-E21A5D456839}"/>
              </a:ext>
            </a:extLst>
          </p:cNvPr>
          <p:cNvSpPr>
            <a:spLocks noGrp="1"/>
          </p:cNvSpPr>
          <p:nvPr>
            <p:ph idx="1"/>
          </p:nvPr>
        </p:nvSpPr>
        <p:spPr/>
        <p:txBody>
          <a:bodyPr>
            <a:normAutofit fontScale="85000" lnSpcReduction="20000"/>
          </a:bodyPr>
          <a:lstStyle/>
          <a:p>
            <a:r>
              <a:rPr lang="en-US" dirty="0"/>
              <a:t>Product Owner</a:t>
            </a:r>
            <a:br>
              <a:rPr lang="en-US" dirty="0"/>
            </a:br>
            <a:r>
              <a:rPr lang="en-US" dirty="0"/>
              <a:t>• Manages the product backlog and prioritizes features based on business value</a:t>
            </a:r>
            <a:br>
              <a:rPr lang="en-US" dirty="0"/>
            </a:br>
            <a:r>
              <a:rPr lang="en-US" dirty="0"/>
              <a:t>• Serves as the voice of the customer</a:t>
            </a:r>
            <a:br>
              <a:rPr lang="en-US" dirty="0"/>
            </a:br>
            <a:r>
              <a:rPr lang="en-US" dirty="0"/>
              <a:t>• Ensures the team builds the right product</a:t>
            </a:r>
            <a:br>
              <a:rPr lang="en-US" dirty="0"/>
            </a:br>
            <a:br>
              <a:rPr lang="en-US" dirty="0"/>
            </a:br>
            <a:r>
              <a:rPr lang="en-US" dirty="0"/>
              <a:t>Scrum Master</a:t>
            </a:r>
            <a:br>
              <a:rPr lang="en-US" dirty="0"/>
            </a:br>
            <a:r>
              <a:rPr lang="en-US" dirty="0"/>
              <a:t>• Facilitates Scrum ceremonies and removes impediments</a:t>
            </a:r>
            <a:br>
              <a:rPr lang="en-US" dirty="0"/>
            </a:br>
            <a:r>
              <a:rPr lang="en-US" dirty="0"/>
              <a:t>• Coaches the team on Agile practices</a:t>
            </a:r>
            <a:br>
              <a:rPr lang="en-US" dirty="0"/>
            </a:br>
            <a:r>
              <a:rPr lang="en-US" dirty="0"/>
              <a:t>• Ensures the team can work effectively</a:t>
            </a:r>
            <a:br>
              <a:rPr lang="en-US" dirty="0"/>
            </a:br>
            <a:br>
              <a:rPr lang="en-US" dirty="0"/>
            </a:br>
            <a:r>
              <a:rPr lang="en-US" dirty="0"/>
              <a:t>Development Team</a:t>
            </a:r>
            <a:br>
              <a:rPr lang="en-US" dirty="0"/>
            </a:br>
            <a:r>
              <a:rPr lang="en-US" dirty="0"/>
              <a:t>• Cross-functional members who design, develop, test, and deliver software</a:t>
            </a:r>
            <a:br>
              <a:rPr lang="en-US" dirty="0"/>
            </a:br>
            <a:r>
              <a:rPr lang="en-US" dirty="0"/>
              <a:t>• Self-organizing with collective ownership</a:t>
            </a:r>
            <a:br>
              <a:rPr lang="en-US" dirty="0"/>
            </a:br>
            <a:r>
              <a:rPr lang="en-US" dirty="0"/>
              <a:t>• No individual silos or handoffs</a:t>
            </a:r>
          </a:p>
          <a:p>
            <a:endParaRPr lang="en-US" dirty="0"/>
          </a:p>
        </p:txBody>
      </p:sp>
    </p:spTree>
    <p:extLst>
      <p:ext uri="{BB962C8B-B14F-4D97-AF65-F5344CB8AC3E}">
        <p14:creationId xmlns:p14="http://schemas.microsoft.com/office/powerpoint/2010/main" val="2325094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E670A5-52D1-72FE-33B5-B120C2D3FA29}"/>
              </a:ext>
            </a:extLst>
          </p:cNvPr>
          <p:cNvSpPr>
            <a:spLocks noGrp="1"/>
          </p:cNvSpPr>
          <p:nvPr>
            <p:ph type="title"/>
          </p:nvPr>
        </p:nvSpPr>
        <p:spPr/>
        <p:txBody>
          <a:bodyPr/>
          <a:lstStyle/>
          <a:p>
            <a:r>
              <a:rPr lang="en-US" dirty="0"/>
              <a:t>Software Development Lifecycle in Agile</a:t>
            </a:r>
            <a:br>
              <a:rPr lang="en-US" dirty="0"/>
            </a:br>
            <a:endParaRPr lang="en-US" dirty="0"/>
          </a:p>
        </p:txBody>
      </p:sp>
      <p:sp>
        <p:nvSpPr>
          <p:cNvPr id="3" name="Content Placeholder 2">
            <a:extLst>
              <a:ext uri="{FF2B5EF4-FFF2-40B4-BE49-F238E27FC236}">
                <a16:creationId xmlns:a16="http://schemas.microsoft.com/office/drawing/2014/main" id="{B52FF356-BA44-96C6-FCBA-982A5607F457}"/>
              </a:ext>
            </a:extLst>
          </p:cNvPr>
          <p:cNvSpPr>
            <a:spLocks noGrp="1"/>
          </p:cNvSpPr>
          <p:nvPr>
            <p:ph idx="1"/>
          </p:nvPr>
        </p:nvSpPr>
        <p:spPr/>
        <p:txBody>
          <a:bodyPr>
            <a:normAutofit fontScale="55000" lnSpcReduction="20000"/>
          </a:bodyPr>
          <a:lstStyle/>
          <a:p>
            <a:r>
              <a:rPr lang="en-US" dirty="0"/>
              <a:t>1. Requirements (Ongoing)</a:t>
            </a:r>
            <a:br>
              <a:rPr lang="en-US" dirty="0"/>
            </a:br>
            <a:r>
              <a:rPr lang="en-US" dirty="0"/>
              <a:t>   • Continuously refined through product backlog</a:t>
            </a:r>
            <a:br>
              <a:rPr lang="en-US" dirty="0"/>
            </a:br>
            <a:r>
              <a:rPr lang="en-US" dirty="0"/>
              <a:t>   • User stories define features from customer perspective</a:t>
            </a:r>
            <a:br>
              <a:rPr lang="en-US" dirty="0"/>
            </a:br>
            <a:br>
              <a:rPr lang="en-US" dirty="0"/>
            </a:br>
            <a:r>
              <a:rPr lang="en-US" dirty="0"/>
              <a:t>2. Design (Iterative)</a:t>
            </a:r>
            <a:br>
              <a:rPr lang="en-US" dirty="0"/>
            </a:br>
            <a:r>
              <a:rPr lang="en-US" dirty="0"/>
              <a:t>   • Just-enough design for current sprint</a:t>
            </a:r>
            <a:br>
              <a:rPr lang="en-US" dirty="0"/>
            </a:br>
            <a:r>
              <a:rPr lang="en-US" dirty="0"/>
              <a:t>   • Emerges through collaboration</a:t>
            </a:r>
            <a:br>
              <a:rPr lang="en-US" dirty="0"/>
            </a:br>
            <a:br>
              <a:rPr lang="en-US" dirty="0"/>
            </a:br>
            <a:r>
              <a:rPr lang="en-US" dirty="0"/>
              <a:t>3. Implementation (Sprint-Based)</a:t>
            </a:r>
            <a:br>
              <a:rPr lang="en-US" dirty="0"/>
            </a:br>
            <a:r>
              <a:rPr lang="en-US" dirty="0"/>
              <a:t>   • Development occurs in 1-4 week sprints</a:t>
            </a:r>
            <a:br>
              <a:rPr lang="en-US" dirty="0"/>
            </a:br>
            <a:r>
              <a:rPr lang="en-US" dirty="0"/>
              <a:t>   • Working software delivered each sprint</a:t>
            </a:r>
            <a:br>
              <a:rPr lang="en-US" dirty="0"/>
            </a:br>
            <a:br>
              <a:rPr lang="en-US" dirty="0"/>
            </a:br>
            <a:r>
              <a:rPr lang="en-US" dirty="0"/>
              <a:t>4. Testing (Continuous)</a:t>
            </a:r>
            <a:br>
              <a:rPr lang="en-US" dirty="0"/>
            </a:br>
            <a:r>
              <a:rPr lang="en-US" dirty="0"/>
              <a:t>   • Integrated throughout the sprint, not a final phase</a:t>
            </a:r>
            <a:br>
              <a:rPr lang="en-US" dirty="0"/>
            </a:br>
            <a:r>
              <a:rPr lang="en-US" dirty="0"/>
              <a:t>   • Catches defects early when they're cheapest to fix</a:t>
            </a:r>
            <a:br>
              <a:rPr lang="en-US" dirty="0"/>
            </a:br>
            <a:br>
              <a:rPr lang="en-US" dirty="0"/>
            </a:br>
            <a:r>
              <a:rPr lang="en-US" dirty="0"/>
              <a:t>5. Deployment (Incremental)</a:t>
            </a:r>
            <a:br>
              <a:rPr lang="en-US" dirty="0"/>
            </a:br>
            <a:r>
              <a:rPr lang="en-US" dirty="0"/>
              <a:t>   • Potentially shippable increment each sprint</a:t>
            </a:r>
            <a:br>
              <a:rPr lang="en-US" dirty="0"/>
            </a:br>
            <a:r>
              <a:rPr lang="en-US" dirty="0"/>
              <a:t>   • Faster time-to-market</a:t>
            </a:r>
            <a:br>
              <a:rPr lang="en-US" dirty="0"/>
            </a:br>
            <a:br>
              <a:rPr lang="en-US" dirty="0"/>
            </a:br>
            <a:r>
              <a:rPr lang="en-US" dirty="0"/>
              <a:t>6. Maintenance (Continuous)</a:t>
            </a:r>
            <a:br>
              <a:rPr lang="en-US" dirty="0"/>
            </a:br>
            <a:r>
              <a:rPr lang="en-US" dirty="0"/>
              <a:t>   • Bug fixes and enhancements added to backlog</a:t>
            </a:r>
            <a:br>
              <a:rPr lang="en-US" dirty="0"/>
            </a:br>
            <a:r>
              <a:rPr lang="en-US" dirty="0"/>
              <a:t>   • No separate maintenance phase</a:t>
            </a:r>
          </a:p>
          <a:p>
            <a:endParaRPr lang="en-US" dirty="0"/>
          </a:p>
        </p:txBody>
      </p:sp>
    </p:spTree>
    <p:extLst>
      <p:ext uri="{BB962C8B-B14F-4D97-AF65-F5344CB8AC3E}">
        <p14:creationId xmlns:p14="http://schemas.microsoft.com/office/powerpoint/2010/main" val="17292513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A68BC7-9849-20A5-A39F-037ABAE0BC6E}"/>
              </a:ext>
            </a:extLst>
          </p:cNvPr>
          <p:cNvSpPr>
            <a:spLocks noGrp="1"/>
          </p:cNvSpPr>
          <p:nvPr>
            <p:ph type="title"/>
          </p:nvPr>
        </p:nvSpPr>
        <p:spPr/>
        <p:txBody>
          <a:bodyPr/>
          <a:lstStyle/>
          <a:p>
            <a:r>
              <a:rPr lang="en-US" dirty="0"/>
              <a:t>Waterfall Development: A Different Approach</a:t>
            </a:r>
          </a:p>
        </p:txBody>
      </p:sp>
      <p:graphicFrame>
        <p:nvGraphicFramePr>
          <p:cNvPr id="6" name="Content Placeholder 5">
            <a:extLst>
              <a:ext uri="{FF2B5EF4-FFF2-40B4-BE49-F238E27FC236}">
                <a16:creationId xmlns:a16="http://schemas.microsoft.com/office/drawing/2014/main" id="{5DB8BC77-7135-95A2-2200-F5E71EEA4E23}"/>
              </a:ext>
            </a:extLst>
          </p:cNvPr>
          <p:cNvGraphicFramePr>
            <a:graphicFrameLocks noGrp="1"/>
          </p:cNvGraphicFramePr>
          <p:nvPr>
            <p:ph idx="1"/>
            <p:extLst>
              <p:ext uri="{D42A27DB-BD31-4B8C-83A1-F6EECF244321}">
                <p14:modId xmlns:p14="http://schemas.microsoft.com/office/powerpoint/2010/main" val="1162916142"/>
              </p:ext>
            </p:extLst>
          </p:nvPr>
        </p:nvGraphicFramePr>
        <p:xfrm>
          <a:off x="838200" y="1825624"/>
          <a:ext cx="10515597" cy="3481870"/>
        </p:xfrm>
        <a:graphic>
          <a:graphicData uri="http://schemas.openxmlformats.org/drawingml/2006/table">
            <a:tbl>
              <a:tblPr firstRow="1" bandRow="1">
                <a:tableStyleId>{5C22544A-7EE6-4342-B048-85BDC9FD1C3A}</a:tableStyleId>
              </a:tblPr>
              <a:tblGrid>
                <a:gridCol w="3505199">
                  <a:extLst>
                    <a:ext uri="{9D8B030D-6E8A-4147-A177-3AD203B41FA5}">
                      <a16:colId xmlns:a16="http://schemas.microsoft.com/office/drawing/2014/main" val="578175703"/>
                    </a:ext>
                  </a:extLst>
                </a:gridCol>
                <a:gridCol w="3505199">
                  <a:extLst>
                    <a:ext uri="{9D8B030D-6E8A-4147-A177-3AD203B41FA5}">
                      <a16:colId xmlns:a16="http://schemas.microsoft.com/office/drawing/2014/main" val="38497035"/>
                    </a:ext>
                  </a:extLst>
                </a:gridCol>
                <a:gridCol w="3505199">
                  <a:extLst>
                    <a:ext uri="{9D8B030D-6E8A-4147-A177-3AD203B41FA5}">
                      <a16:colId xmlns:a16="http://schemas.microsoft.com/office/drawing/2014/main" val="3844556458"/>
                    </a:ext>
                  </a:extLst>
                </a:gridCol>
              </a:tblGrid>
              <a:tr h="467236">
                <a:tc>
                  <a:txBody>
                    <a:bodyPr/>
                    <a:lstStyle/>
                    <a:p>
                      <a:r>
                        <a:rPr lang="en-US" dirty="0"/>
                        <a:t>Aspect</a:t>
                      </a:r>
                    </a:p>
                  </a:txBody>
                  <a:tcPr/>
                </a:tc>
                <a:tc>
                  <a:txBody>
                    <a:bodyPr/>
                    <a:lstStyle/>
                    <a:p>
                      <a:r>
                        <a:rPr lang="en-US" dirty="0"/>
                        <a:t>Waterfall</a:t>
                      </a:r>
                    </a:p>
                  </a:txBody>
                  <a:tcPr/>
                </a:tc>
                <a:tc>
                  <a:txBody>
                    <a:bodyPr/>
                    <a:lstStyle/>
                    <a:p>
                      <a:r>
                        <a:rPr lang="en-US" dirty="0"/>
                        <a:t>Agile</a:t>
                      </a:r>
                    </a:p>
                  </a:txBody>
                  <a:tcPr/>
                </a:tc>
                <a:extLst>
                  <a:ext uri="{0D108BD9-81ED-4DB2-BD59-A6C34878D82A}">
                    <a16:rowId xmlns:a16="http://schemas.microsoft.com/office/drawing/2014/main" val="1416144316"/>
                  </a:ext>
                </a:extLst>
              </a:tr>
              <a:tr h="467236">
                <a:tc>
                  <a:txBody>
                    <a:bodyPr/>
                    <a:lstStyle/>
                    <a:p>
                      <a:r>
                        <a:rPr lang="en-US" dirty="0"/>
                        <a:t>Process</a:t>
                      </a:r>
                    </a:p>
                  </a:txBody>
                  <a:tcPr/>
                </a:tc>
                <a:tc>
                  <a:txBody>
                    <a:bodyPr/>
                    <a:lstStyle/>
                    <a:p>
                      <a:r>
                        <a:rPr lang="en-US" dirty="0"/>
                        <a:t>Sequential phases</a:t>
                      </a:r>
                    </a:p>
                  </a:txBody>
                  <a:tcPr/>
                </a:tc>
                <a:tc>
                  <a:txBody>
                    <a:bodyPr/>
                    <a:lstStyle/>
                    <a:p>
                      <a:r>
                        <a:rPr lang="en-US" dirty="0"/>
                        <a:t>Iterative sprints</a:t>
                      </a:r>
                    </a:p>
                  </a:txBody>
                  <a:tcPr/>
                </a:tc>
                <a:extLst>
                  <a:ext uri="{0D108BD9-81ED-4DB2-BD59-A6C34878D82A}">
                    <a16:rowId xmlns:a16="http://schemas.microsoft.com/office/drawing/2014/main" val="623069473"/>
                  </a:ext>
                </a:extLst>
              </a:tr>
              <a:tr h="806463">
                <a:tc>
                  <a:txBody>
                    <a:bodyPr/>
                    <a:lstStyle/>
                    <a:p>
                      <a:r>
                        <a:rPr lang="en-US" dirty="0"/>
                        <a:t>Planning</a:t>
                      </a:r>
                    </a:p>
                  </a:txBody>
                  <a:tcPr/>
                </a:tc>
                <a:tc>
                  <a:txBody>
                    <a:bodyPr/>
                    <a:lstStyle/>
                    <a:p>
                      <a:r>
                        <a:rPr lang="en-US" dirty="0"/>
                        <a:t>Comprehensive</a:t>
                      </a:r>
                    </a:p>
                    <a:p>
                      <a:r>
                        <a:rPr lang="en-US" dirty="0"/>
                        <a:t>upfront</a:t>
                      </a:r>
                    </a:p>
                  </a:txBody>
                  <a:tcPr/>
                </a:tc>
                <a:tc>
                  <a:txBody>
                    <a:bodyPr/>
                    <a:lstStyle/>
                    <a:p>
                      <a:r>
                        <a:rPr lang="en-US" dirty="0"/>
                        <a:t>Continuous</a:t>
                      </a:r>
                    </a:p>
                    <a:p>
                      <a:r>
                        <a:rPr lang="en-US" dirty="0"/>
                        <a:t>refinement</a:t>
                      </a:r>
                    </a:p>
                  </a:txBody>
                  <a:tcPr/>
                </a:tc>
                <a:extLst>
                  <a:ext uri="{0D108BD9-81ED-4DB2-BD59-A6C34878D82A}">
                    <a16:rowId xmlns:a16="http://schemas.microsoft.com/office/drawing/2014/main" val="3157747253"/>
                  </a:ext>
                </a:extLst>
              </a:tr>
              <a:tr h="467236">
                <a:tc>
                  <a:txBody>
                    <a:bodyPr/>
                    <a:lstStyle/>
                    <a:p>
                      <a:r>
                        <a:rPr lang="en-US" dirty="0"/>
                        <a:t>Testing</a:t>
                      </a:r>
                    </a:p>
                  </a:txBody>
                  <a:tcPr/>
                </a:tc>
                <a:tc>
                  <a:txBody>
                    <a:bodyPr/>
                    <a:lstStyle/>
                    <a:p>
                      <a:r>
                        <a:rPr lang="en-US" dirty="0"/>
                        <a:t>After development</a:t>
                      </a:r>
                    </a:p>
                  </a:txBody>
                  <a:tcPr/>
                </a:tc>
                <a:tc>
                  <a:txBody>
                    <a:bodyPr/>
                    <a:lstStyle/>
                    <a:p>
                      <a:r>
                        <a:rPr lang="en-US" dirty="0"/>
                        <a:t>Throughout sprint</a:t>
                      </a:r>
                    </a:p>
                  </a:txBody>
                  <a:tcPr/>
                </a:tc>
                <a:extLst>
                  <a:ext uri="{0D108BD9-81ED-4DB2-BD59-A6C34878D82A}">
                    <a16:rowId xmlns:a16="http://schemas.microsoft.com/office/drawing/2014/main" val="3260298438"/>
                  </a:ext>
                </a:extLst>
              </a:tr>
              <a:tr h="806463">
                <a:tc>
                  <a:txBody>
                    <a:bodyPr/>
                    <a:lstStyle/>
                    <a:p>
                      <a:r>
                        <a:rPr lang="en-US" dirty="0"/>
                        <a:t>Changes</a:t>
                      </a:r>
                    </a:p>
                  </a:txBody>
                  <a:tcPr/>
                </a:tc>
                <a:tc>
                  <a:txBody>
                    <a:bodyPr/>
                    <a:lstStyle/>
                    <a:p>
                      <a:r>
                        <a:rPr lang="en-US" dirty="0"/>
                        <a:t>Formal change</a:t>
                      </a:r>
                    </a:p>
                    <a:p>
                      <a:r>
                        <a:rPr lang="en-US" dirty="0"/>
                        <a:t>Control (slow)</a:t>
                      </a:r>
                    </a:p>
                  </a:txBody>
                  <a:tcPr/>
                </a:tc>
                <a:tc>
                  <a:txBody>
                    <a:bodyPr/>
                    <a:lstStyle/>
                    <a:p>
                      <a:r>
                        <a:rPr lang="en-US" dirty="0"/>
                        <a:t>Adapted in next</a:t>
                      </a:r>
                    </a:p>
                    <a:p>
                      <a:r>
                        <a:rPr lang="en-US" dirty="0"/>
                        <a:t>Sprint (fast)</a:t>
                      </a:r>
                    </a:p>
                  </a:txBody>
                  <a:tcPr/>
                </a:tc>
                <a:extLst>
                  <a:ext uri="{0D108BD9-81ED-4DB2-BD59-A6C34878D82A}">
                    <a16:rowId xmlns:a16="http://schemas.microsoft.com/office/drawing/2014/main" val="202296710"/>
                  </a:ext>
                </a:extLst>
              </a:tr>
              <a:tr h="467236">
                <a:tc>
                  <a:txBody>
                    <a:bodyPr/>
                    <a:lstStyle/>
                    <a:p>
                      <a:r>
                        <a:rPr lang="en-US" dirty="0"/>
                        <a:t>Delivery</a:t>
                      </a:r>
                    </a:p>
                  </a:txBody>
                  <a:tcPr/>
                </a:tc>
                <a:tc>
                  <a:txBody>
                    <a:bodyPr/>
                    <a:lstStyle/>
                    <a:p>
                      <a:r>
                        <a:rPr lang="en-US" dirty="0"/>
                        <a:t>End of project</a:t>
                      </a:r>
                    </a:p>
                  </a:txBody>
                  <a:tcPr/>
                </a:tc>
                <a:tc>
                  <a:txBody>
                    <a:bodyPr/>
                    <a:lstStyle/>
                    <a:p>
                      <a:r>
                        <a:rPr lang="en-US" dirty="0"/>
                        <a:t>Every sprint</a:t>
                      </a:r>
                    </a:p>
                  </a:txBody>
                  <a:tcPr/>
                </a:tc>
                <a:extLst>
                  <a:ext uri="{0D108BD9-81ED-4DB2-BD59-A6C34878D82A}">
                    <a16:rowId xmlns:a16="http://schemas.microsoft.com/office/drawing/2014/main" val="3114862989"/>
                  </a:ext>
                </a:extLst>
              </a:tr>
            </a:tbl>
          </a:graphicData>
        </a:graphic>
      </p:graphicFrame>
      <p:sp>
        <p:nvSpPr>
          <p:cNvPr id="7" name="TextBox 6">
            <a:extLst>
              <a:ext uri="{FF2B5EF4-FFF2-40B4-BE49-F238E27FC236}">
                <a16:creationId xmlns:a16="http://schemas.microsoft.com/office/drawing/2014/main" id="{2A465D63-396C-F260-A87C-5740F69DA6CD}"/>
              </a:ext>
            </a:extLst>
          </p:cNvPr>
          <p:cNvSpPr txBox="1"/>
          <p:nvPr/>
        </p:nvSpPr>
        <p:spPr>
          <a:xfrm>
            <a:off x="0" y="7553738"/>
            <a:ext cx="11549270" cy="3139321"/>
          </a:xfrm>
          <a:prstGeom prst="rect">
            <a:avLst/>
          </a:prstGeom>
          <a:noFill/>
        </p:spPr>
        <p:txBody>
          <a:bodyPr wrap="square" rtlCol="0">
            <a:spAutoFit/>
          </a:bodyPr>
          <a:lstStyle/>
          <a:p>
            <a:r>
              <a:rPr lang="en-US" dirty="0"/>
              <a:t>SNHU Travel Example: Mid-project personalization request</a:t>
            </a:r>
            <a:br>
              <a:rPr lang="en-US" dirty="0"/>
            </a:br>
            <a:br>
              <a:rPr lang="en-US" dirty="0"/>
            </a:br>
            <a:r>
              <a:rPr lang="en-US" dirty="0"/>
              <a:t>Waterfall Response:</a:t>
            </a:r>
            <a:br>
              <a:rPr lang="en-US" dirty="0"/>
            </a:br>
            <a:r>
              <a:rPr lang="en-US" dirty="0"/>
              <a:t>• Change request, impact analysis (2-3 weeks)</a:t>
            </a:r>
            <a:br>
              <a:rPr lang="en-US" dirty="0"/>
            </a:br>
            <a:r>
              <a:rPr lang="en-US" dirty="0"/>
              <a:t>• Requirements reopened, design updated</a:t>
            </a:r>
            <a:br>
              <a:rPr lang="en-US" dirty="0"/>
            </a:br>
            <a:r>
              <a:rPr lang="en-US" dirty="0"/>
              <a:t>• Result: 2-3 month delay</a:t>
            </a:r>
            <a:br>
              <a:rPr lang="en-US" dirty="0"/>
            </a:br>
            <a:br>
              <a:rPr lang="en-US" dirty="0"/>
            </a:br>
            <a:r>
              <a:rPr lang="en-US" dirty="0"/>
              <a:t>Agile Response:</a:t>
            </a:r>
            <a:br>
              <a:rPr lang="en-US" dirty="0"/>
            </a:br>
            <a:r>
              <a:rPr lang="en-US" dirty="0"/>
              <a:t>• Added to product backlog, prioritized for next sprint</a:t>
            </a:r>
            <a:br>
              <a:rPr lang="en-US" dirty="0"/>
            </a:br>
            <a:r>
              <a:rPr lang="en-US" dirty="0"/>
              <a:t>• Result: Delivered in 2-4 weeks</a:t>
            </a:r>
          </a:p>
          <a:p>
            <a:endParaRPr lang="en-US" dirty="0"/>
          </a:p>
        </p:txBody>
      </p:sp>
    </p:spTree>
    <p:extLst>
      <p:ext uri="{BB962C8B-B14F-4D97-AF65-F5344CB8AC3E}">
        <p14:creationId xmlns:p14="http://schemas.microsoft.com/office/powerpoint/2010/main" val="3867518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0DCB3E-6945-4686-C74E-F12A95B3F9E9}"/>
              </a:ext>
            </a:extLst>
          </p:cNvPr>
          <p:cNvSpPr>
            <a:spLocks noGrp="1"/>
          </p:cNvSpPr>
          <p:nvPr>
            <p:ph type="title"/>
          </p:nvPr>
        </p:nvSpPr>
        <p:spPr/>
        <p:txBody>
          <a:bodyPr/>
          <a:lstStyle/>
          <a:p>
            <a:r>
              <a:rPr lang="en-US" dirty="0"/>
              <a:t>Choosing the Right Methodology</a:t>
            </a:r>
          </a:p>
        </p:txBody>
      </p:sp>
      <p:sp>
        <p:nvSpPr>
          <p:cNvPr id="3" name="Content Placeholder 2">
            <a:extLst>
              <a:ext uri="{FF2B5EF4-FFF2-40B4-BE49-F238E27FC236}">
                <a16:creationId xmlns:a16="http://schemas.microsoft.com/office/drawing/2014/main" id="{5BB99624-0E80-454E-B2F5-EABEDBC2A2C8}"/>
              </a:ext>
            </a:extLst>
          </p:cNvPr>
          <p:cNvSpPr>
            <a:spLocks noGrp="1"/>
          </p:cNvSpPr>
          <p:nvPr>
            <p:ph idx="1"/>
          </p:nvPr>
        </p:nvSpPr>
        <p:spPr/>
        <p:txBody>
          <a:bodyPr>
            <a:normAutofit fontScale="77500" lnSpcReduction="20000"/>
          </a:bodyPr>
          <a:lstStyle/>
          <a:p>
            <a:pPr marL="0" indent="0">
              <a:buNone/>
            </a:pPr>
            <a:r>
              <a:rPr lang="en-US" dirty="0"/>
              <a:t>When Waterfall Works Best:</a:t>
            </a:r>
            <a:br>
              <a:rPr lang="en-US" dirty="0"/>
            </a:br>
            <a:r>
              <a:rPr lang="en-US" dirty="0"/>
              <a:t>✓ Fixed, well-understood requirements</a:t>
            </a:r>
            <a:br>
              <a:rPr lang="en-US" dirty="0"/>
            </a:br>
            <a:r>
              <a:rPr lang="en-US" dirty="0"/>
              <a:t>✓ Stable technology environment</a:t>
            </a:r>
            <a:br>
              <a:rPr lang="en-US" dirty="0"/>
            </a:br>
            <a:r>
              <a:rPr lang="en-US" dirty="0"/>
              <a:t>✓ Low uncertainty</a:t>
            </a:r>
            <a:br>
              <a:rPr lang="en-US" dirty="0"/>
            </a:br>
            <a:r>
              <a:rPr lang="en-US" dirty="0"/>
              <a:t>✓ Extensive documentation requirements</a:t>
            </a:r>
            <a:br>
              <a:rPr lang="en-US" dirty="0"/>
            </a:br>
            <a:r>
              <a:rPr lang="en-US" dirty="0"/>
              <a:t>✓ Distributed teams with limited communication</a:t>
            </a:r>
            <a:br>
              <a:rPr lang="en-US" dirty="0"/>
            </a:br>
            <a:br>
              <a:rPr lang="en-US" dirty="0"/>
            </a:br>
            <a:r>
              <a:rPr lang="en-US" dirty="0"/>
              <a:t>When Agile Works Best:</a:t>
            </a:r>
            <a:br>
              <a:rPr lang="en-US" dirty="0"/>
            </a:br>
            <a:r>
              <a:rPr lang="en-US" dirty="0"/>
              <a:t>✓ Evolving or uncertain requirements (SNHU Travel example)</a:t>
            </a:r>
            <a:br>
              <a:rPr lang="en-US" dirty="0"/>
            </a:br>
            <a:r>
              <a:rPr lang="en-US" dirty="0"/>
              <a:t>✓ Need for rapid feedback</a:t>
            </a:r>
            <a:br>
              <a:rPr lang="en-US" dirty="0"/>
            </a:br>
            <a:r>
              <a:rPr lang="en-US" dirty="0"/>
              <a:t>✓ Complex, innovative projects</a:t>
            </a:r>
            <a:br>
              <a:rPr lang="en-US" dirty="0"/>
            </a:br>
            <a:r>
              <a:rPr lang="en-US" dirty="0"/>
              <a:t>✓ Cross-functional collaboration needed</a:t>
            </a:r>
            <a:br>
              <a:rPr lang="en-US" dirty="0"/>
            </a:br>
            <a:r>
              <a:rPr lang="en-US" dirty="0"/>
              <a:t>✓ Time-to-market is critical</a:t>
            </a:r>
            <a:br>
              <a:rPr lang="en-US" dirty="0"/>
            </a:br>
            <a:br>
              <a:rPr lang="en-US" dirty="0"/>
            </a:br>
            <a:r>
              <a:rPr lang="en-US" dirty="0"/>
              <a:t>Decision Factors:</a:t>
            </a:r>
            <a:br>
              <a:rPr lang="en-US" dirty="0"/>
            </a:br>
            <a:r>
              <a:rPr lang="en-US" dirty="0"/>
              <a:t>• Requirements: Known → Waterfall | Uncertain → Agile</a:t>
            </a:r>
            <a:br>
              <a:rPr lang="en-US" dirty="0"/>
            </a:br>
            <a:r>
              <a:rPr lang="en-US" dirty="0"/>
              <a:t>• Stakeholder availability: Limited → Waterfall | Active → Agile</a:t>
            </a:r>
            <a:br>
              <a:rPr lang="en-US" dirty="0"/>
            </a:br>
            <a:r>
              <a:rPr lang="en-US" dirty="0"/>
              <a:t>• Change frequency: Rare → Waterfall | Common → Agile</a:t>
            </a:r>
          </a:p>
          <a:p>
            <a:pPr marL="0" indent="0">
              <a:buNone/>
            </a:pPr>
            <a:endParaRPr lang="en-US" dirty="0"/>
          </a:p>
        </p:txBody>
      </p:sp>
    </p:spTree>
    <p:extLst>
      <p:ext uri="{BB962C8B-B14F-4D97-AF65-F5344CB8AC3E}">
        <p14:creationId xmlns:p14="http://schemas.microsoft.com/office/powerpoint/2010/main" val="32037544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DA087D-7274-142B-29BE-C5FE2239207C}"/>
              </a:ext>
            </a:extLst>
          </p:cNvPr>
          <p:cNvSpPr>
            <a:spLocks noGrp="1"/>
          </p:cNvSpPr>
          <p:nvPr>
            <p:ph type="title"/>
          </p:nvPr>
        </p:nvSpPr>
        <p:spPr/>
        <p:txBody>
          <a:bodyPr/>
          <a:lstStyle/>
          <a:p>
            <a:r>
              <a:rPr lang="en-US" dirty="0"/>
              <a:t>Proven Benefits of Agile Development</a:t>
            </a:r>
          </a:p>
        </p:txBody>
      </p:sp>
      <p:sp>
        <p:nvSpPr>
          <p:cNvPr id="3" name="Content Placeholder 2">
            <a:extLst>
              <a:ext uri="{FF2B5EF4-FFF2-40B4-BE49-F238E27FC236}">
                <a16:creationId xmlns:a16="http://schemas.microsoft.com/office/drawing/2014/main" id="{8D71CC9D-2132-A40B-57AA-C4C4BA0CE2A0}"/>
              </a:ext>
            </a:extLst>
          </p:cNvPr>
          <p:cNvSpPr>
            <a:spLocks noGrp="1"/>
          </p:cNvSpPr>
          <p:nvPr>
            <p:ph idx="1"/>
          </p:nvPr>
        </p:nvSpPr>
        <p:spPr/>
        <p:txBody>
          <a:bodyPr>
            <a:normAutofit fontScale="55000" lnSpcReduction="20000"/>
          </a:bodyPr>
          <a:lstStyle/>
          <a:p>
            <a:r>
              <a:rPr lang="en-US" dirty="0"/>
              <a:t>1. Faster Time-to-Value</a:t>
            </a:r>
            <a:br>
              <a:rPr lang="en-US" dirty="0"/>
            </a:br>
            <a:r>
              <a:rPr lang="en-US" dirty="0"/>
              <a:t>   • Working software delivered every sprint</a:t>
            </a:r>
            <a:br>
              <a:rPr lang="en-US" dirty="0"/>
            </a:br>
            <a:r>
              <a:rPr lang="en-US" dirty="0"/>
              <a:t>   • SNHU Travel: Basic destination list functional in Sprint 1</a:t>
            </a:r>
            <a:br>
              <a:rPr lang="en-US" dirty="0"/>
            </a:br>
            <a:br>
              <a:rPr lang="en-US" dirty="0"/>
            </a:br>
            <a:r>
              <a:rPr lang="en-US" dirty="0"/>
              <a:t>2. Reduced Risk</a:t>
            </a:r>
            <a:br>
              <a:rPr lang="en-US" dirty="0"/>
            </a:br>
            <a:r>
              <a:rPr lang="en-US" dirty="0"/>
              <a:t>   • Early detection of issues through continuous testing</a:t>
            </a:r>
            <a:br>
              <a:rPr lang="en-US" dirty="0"/>
            </a:br>
            <a:r>
              <a:rPr lang="en-US" dirty="0"/>
              <a:t>   • Always maintained deployable software</a:t>
            </a:r>
            <a:br>
              <a:rPr lang="en-US" dirty="0"/>
            </a:br>
            <a:br>
              <a:rPr lang="en-US" dirty="0"/>
            </a:br>
            <a:r>
              <a:rPr lang="en-US" dirty="0"/>
              <a:t>3. Improved Quality</a:t>
            </a:r>
            <a:br>
              <a:rPr lang="en-US" dirty="0"/>
            </a:br>
            <a:r>
              <a:rPr lang="en-US" dirty="0"/>
              <a:t>   • Testing integrated throughout sprint</a:t>
            </a:r>
            <a:br>
              <a:rPr lang="en-US" dirty="0"/>
            </a:br>
            <a:r>
              <a:rPr lang="en-US" dirty="0"/>
              <a:t>   • Definition of Done prevented incomplete work</a:t>
            </a:r>
            <a:br>
              <a:rPr lang="en-US" dirty="0"/>
            </a:br>
            <a:br>
              <a:rPr lang="en-US" dirty="0"/>
            </a:br>
            <a:r>
              <a:rPr lang="en-US" dirty="0"/>
              <a:t>4. Enhanced Stakeholder Satisfaction</a:t>
            </a:r>
            <a:br>
              <a:rPr lang="en-US" dirty="0"/>
            </a:br>
            <a:r>
              <a:rPr lang="en-US" dirty="0"/>
              <a:t>   • Sprint Reviews provided regular visibility</a:t>
            </a:r>
            <a:br>
              <a:rPr lang="en-US" dirty="0"/>
            </a:br>
            <a:r>
              <a:rPr lang="en-US" dirty="0"/>
              <a:t>   • Personalization feature emerged from stakeholder input</a:t>
            </a:r>
            <a:br>
              <a:rPr lang="en-US" dirty="0"/>
            </a:br>
            <a:br>
              <a:rPr lang="en-US" dirty="0"/>
            </a:br>
            <a:r>
              <a:rPr lang="en-US" dirty="0"/>
              <a:t>5. Better Team Morale</a:t>
            </a:r>
            <a:br>
              <a:rPr lang="en-US" dirty="0"/>
            </a:br>
            <a:r>
              <a:rPr lang="en-US" dirty="0"/>
              <a:t>   • Developers saw completed features regularly</a:t>
            </a:r>
            <a:br>
              <a:rPr lang="en-US" dirty="0"/>
            </a:br>
            <a:r>
              <a:rPr lang="en-US" dirty="0"/>
              <a:t>   • Collaborative environment prevented silos</a:t>
            </a:r>
            <a:br>
              <a:rPr lang="en-US" dirty="0"/>
            </a:br>
            <a:br>
              <a:rPr lang="en-US" dirty="0"/>
            </a:br>
            <a:r>
              <a:rPr lang="en-US" dirty="0"/>
              <a:t>6. Flexibility to Change</a:t>
            </a:r>
            <a:br>
              <a:rPr lang="en-US" dirty="0"/>
            </a:br>
            <a:r>
              <a:rPr lang="en-US" dirty="0"/>
              <a:t>   • Product backlog adapted to new priorities</a:t>
            </a:r>
            <a:br>
              <a:rPr lang="en-US" dirty="0"/>
            </a:br>
            <a:r>
              <a:rPr lang="en-US" dirty="0"/>
              <a:t>   • Competitive advantage through responsiveness</a:t>
            </a:r>
          </a:p>
          <a:p>
            <a:endParaRPr lang="en-US" dirty="0"/>
          </a:p>
        </p:txBody>
      </p:sp>
    </p:spTree>
    <p:extLst>
      <p:ext uri="{BB962C8B-B14F-4D97-AF65-F5344CB8AC3E}">
        <p14:creationId xmlns:p14="http://schemas.microsoft.com/office/powerpoint/2010/main" val="14559085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481054-D5C5-0AE9-B21D-F51541F09651}"/>
              </a:ext>
            </a:extLst>
          </p:cNvPr>
          <p:cNvSpPr>
            <a:spLocks noGrp="1"/>
          </p:cNvSpPr>
          <p:nvPr>
            <p:ph type="title"/>
          </p:nvPr>
        </p:nvSpPr>
        <p:spPr/>
        <p:txBody>
          <a:bodyPr/>
          <a:lstStyle/>
          <a:p>
            <a:r>
              <a:rPr lang="en-US" dirty="0"/>
              <a:t>Addressing Agile Implementation Challenges</a:t>
            </a:r>
          </a:p>
        </p:txBody>
      </p:sp>
      <p:sp>
        <p:nvSpPr>
          <p:cNvPr id="3" name="Content Placeholder 2">
            <a:extLst>
              <a:ext uri="{FF2B5EF4-FFF2-40B4-BE49-F238E27FC236}">
                <a16:creationId xmlns:a16="http://schemas.microsoft.com/office/drawing/2014/main" id="{220939B5-30BB-FABC-A599-5399203E68FE}"/>
              </a:ext>
            </a:extLst>
          </p:cNvPr>
          <p:cNvSpPr>
            <a:spLocks noGrp="1"/>
          </p:cNvSpPr>
          <p:nvPr>
            <p:ph idx="1"/>
          </p:nvPr>
        </p:nvSpPr>
        <p:spPr/>
        <p:txBody>
          <a:bodyPr>
            <a:normAutofit fontScale="62500" lnSpcReduction="20000"/>
          </a:bodyPr>
          <a:lstStyle/>
          <a:p>
            <a:r>
              <a:rPr lang="en-US" dirty="0"/>
              <a:t>Common Challenges and Solutions:</a:t>
            </a:r>
            <a:br>
              <a:rPr lang="en-US" dirty="0"/>
            </a:br>
            <a:br>
              <a:rPr lang="en-US" dirty="0"/>
            </a:br>
            <a:r>
              <a:rPr lang="en-US" dirty="0"/>
              <a:t>1. Cultural Resistance</a:t>
            </a:r>
            <a:br>
              <a:rPr lang="en-US" dirty="0"/>
            </a:br>
            <a:r>
              <a:rPr lang="en-US" dirty="0"/>
              <a:t>   • Challenge: Teams resist daily meetings and collaboration</a:t>
            </a:r>
            <a:br>
              <a:rPr lang="en-US" dirty="0"/>
            </a:br>
            <a:r>
              <a:rPr lang="en-US" dirty="0"/>
              <a:t>   • Solution: Gradual transition, training, demonstrate quick wins</a:t>
            </a:r>
            <a:br>
              <a:rPr lang="en-US" dirty="0"/>
            </a:br>
            <a:br>
              <a:rPr lang="en-US" dirty="0"/>
            </a:br>
            <a:r>
              <a:rPr lang="en-US" dirty="0"/>
              <a:t>2. Requires Active Stakeholder Engagement</a:t>
            </a:r>
            <a:br>
              <a:rPr lang="en-US" dirty="0"/>
            </a:br>
            <a:r>
              <a:rPr lang="en-US" dirty="0"/>
              <a:t>   • Challenge: Product Owners must be available</a:t>
            </a:r>
            <a:br>
              <a:rPr lang="en-US" dirty="0"/>
            </a:br>
            <a:r>
              <a:rPr lang="en-US" dirty="0"/>
              <a:t>   • Solution: Set clear expectations, schedule recurring meetings</a:t>
            </a:r>
            <a:br>
              <a:rPr lang="en-US" dirty="0"/>
            </a:br>
            <a:br>
              <a:rPr lang="en-US" dirty="0"/>
            </a:br>
            <a:r>
              <a:rPr lang="en-US" dirty="0"/>
              <a:t>3. Estimation Difficulty</a:t>
            </a:r>
            <a:br>
              <a:rPr lang="en-US" dirty="0"/>
            </a:br>
            <a:r>
              <a:rPr lang="en-US" dirty="0"/>
              <a:t>   • Challenge: Story points take time to calibrate</a:t>
            </a:r>
            <a:br>
              <a:rPr lang="en-US" dirty="0"/>
            </a:br>
            <a:r>
              <a:rPr lang="en-US" dirty="0"/>
              <a:t>   • Solution: Use historical data, accept uncertainty</a:t>
            </a:r>
            <a:br>
              <a:rPr lang="en-US" dirty="0"/>
            </a:br>
            <a:r>
              <a:rPr lang="en-US" dirty="0"/>
              <a:t>   • SNHU Travel: Velocity stabilized by Sprint 4</a:t>
            </a:r>
            <a:br>
              <a:rPr lang="en-US" dirty="0"/>
            </a:br>
            <a:br>
              <a:rPr lang="en-US" dirty="0"/>
            </a:br>
            <a:r>
              <a:rPr lang="en-US" dirty="0"/>
              <a:t>4. Scope Creep Risk</a:t>
            </a:r>
            <a:br>
              <a:rPr lang="en-US" dirty="0"/>
            </a:br>
            <a:r>
              <a:rPr lang="en-US" dirty="0"/>
              <a:t>   • Challenge: Frequent feedback leads to constant new requests</a:t>
            </a:r>
            <a:br>
              <a:rPr lang="en-US" dirty="0"/>
            </a:br>
            <a:r>
              <a:rPr lang="en-US" dirty="0"/>
              <a:t>   • Solution: Strong Product Owner to prioritize ruthlessly</a:t>
            </a:r>
            <a:br>
              <a:rPr lang="en-US" dirty="0"/>
            </a:br>
            <a:br>
              <a:rPr lang="en-US" dirty="0"/>
            </a:br>
            <a:r>
              <a:rPr lang="en-US" dirty="0"/>
              <a:t>5. Documentation Balance</a:t>
            </a:r>
            <a:br>
              <a:rPr lang="en-US" dirty="0"/>
            </a:br>
            <a:r>
              <a:rPr lang="en-US" dirty="0"/>
              <a:t>   • Challenge: Can lead to insufficient documentation</a:t>
            </a:r>
            <a:br>
              <a:rPr lang="en-US" dirty="0"/>
            </a:br>
            <a:r>
              <a:rPr lang="en-US" dirty="0"/>
              <a:t>   • Solution: Include documentation in Definition of Done</a:t>
            </a:r>
          </a:p>
          <a:p>
            <a:endParaRPr lang="en-US" dirty="0"/>
          </a:p>
        </p:txBody>
      </p:sp>
    </p:spTree>
    <p:extLst>
      <p:ext uri="{BB962C8B-B14F-4D97-AF65-F5344CB8AC3E}">
        <p14:creationId xmlns:p14="http://schemas.microsoft.com/office/powerpoint/2010/main" val="6299733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0CA4D8-DB13-F5C6-AF27-FAE5E19896D1}"/>
              </a:ext>
            </a:extLst>
          </p:cNvPr>
          <p:cNvSpPr>
            <a:spLocks noGrp="1"/>
          </p:cNvSpPr>
          <p:nvPr>
            <p:ph type="title"/>
          </p:nvPr>
        </p:nvSpPr>
        <p:spPr/>
        <p:txBody>
          <a:bodyPr/>
          <a:lstStyle/>
          <a:p>
            <a:r>
              <a:rPr lang="en-US" dirty="0"/>
              <a:t>Essential Scrum Events</a:t>
            </a:r>
          </a:p>
        </p:txBody>
      </p:sp>
      <p:sp>
        <p:nvSpPr>
          <p:cNvPr id="3" name="Content Placeholder 2">
            <a:extLst>
              <a:ext uri="{FF2B5EF4-FFF2-40B4-BE49-F238E27FC236}">
                <a16:creationId xmlns:a16="http://schemas.microsoft.com/office/drawing/2014/main" id="{92E34964-FE35-0B91-A7F7-D63A83F25AD2}"/>
              </a:ext>
            </a:extLst>
          </p:cNvPr>
          <p:cNvSpPr>
            <a:spLocks noGrp="1"/>
          </p:cNvSpPr>
          <p:nvPr>
            <p:ph idx="1"/>
          </p:nvPr>
        </p:nvSpPr>
        <p:spPr/>
        <p:txBody>
          <a:bodyPr>
            <a:normAutofit fontScale="62500" lnSpcReduction="20000"/>
          </a:bodyPr>
          <a:lstStyle/>
          <a:p>
            <a:r>
              <a:rPr lang="en-US" dirty="0"/>
              <a:t>Sprint Planning (Beginning of Sprint)</a:t>
            </a:r>
            <a:br>
              <a:rPr lang="en-US" dirty="0"/>
            </a:br>
            <a:r>
              <a:rPr lang="en-US" dirty="0"/>
              <a:t>• Team commits to sprint backlog</a:t>
            </a:r>
            <a:br>
              <a:rPr lang="en-US" dirty="0"/>
            </a:br>
            <a:r>
              <a:rPr lang="en-US" dirty="0"/>
              <a:t>• Clear sprint goal established</a:t>
            </a:r>
            <a:br>
              <a:rPr lang="en-US" dirty="0"/>
            </a:br>
            <a:br>
              <a:rPr lang="en-US" dirty="0"/>
            </a:br>
            <a:r>
              <a:rPr lang="en-US" dirty="0"/>
              <a:t>Daily Stand-up (Every Day, 15 minutes)</a:t>
            </a:r>
            <a:br>
              <a:rPr lang="en-US" dirty="0"/>
            </a:br>
            <a:r>
              <a:rPr lang="en-US" dirty="0"/>
              <a:t>• Synchronize team, identify blockers</a:t>
            </a:r>
            <a:br>
              <a:rPr lang="en-US" dirty="0"/>
            </a:br>
            <a:r>
              <a:rPr lang="en-US" dirty="0"/>
              <a:t>• Three Questions: What did I do? What will I do? What blocks me?</a:t>
            </a:r>
            <a:br>
              <a:rPr lang="en-US" dirty="0"/>
            </a:br>
            <a:r>
              <a:rPr lang="en-US" dirty="0"/>
              <a:t>• SNHU Travel: Resolved icon blocker in 24 hours</a:t>
            </a:r>
            <a:br>
              <a:rPr lang="en-US" dirty="0"/>
            </a:br>
            <a:br>
              <a:rPr lang="en-US" dirty="0"/>
            </a:br>
            <a:r>
              <a:rPr lang="en-US" dirty="0"/>
              <a:t>Sprint Review (End of Sprint)</a:t>
            </a:r>
            <a:br>
              <a:rPr lang="en-US" dirty="0"/>
            </a:br>
            <a:r>
              <a:rPr lang="en-US" dirty="0"/>
              <a:t>• Demonstrate working software to stakeholders</a:t>
            </a:r>
            <a:br>
              <a:rPr lang="en-US" dirty="0"/>
            </a:br>
            <a:r>
              <a:rPr lang="en-US" dirty="0"/>
              <a:t>• SNHU Travel: Personalization idea emerged from Sprint 3 review</a:t>
            </a:r>
            <a:br>
              <a:rPr lang="en-US" dirty="0"/>
            </a:br>
            <a:br>
              <a:rPr lang="en-US" dirty="0"/>
            </a:br>
            <a:r>
              <a:rPr lang="en-US" dirty="0"/>
              <a:t>Sprint Retrospective (End of Sprint)</a:t>
            </a:r>
            <a:br>
              <a:rPr lang="en-US" dirty="0"/>
            </a:br>
            <a:r>
              <a:rPr lang="en-US" dirty="0"/>
              <a:t>• Reflect on process, identify improvements</a:t>
            </a:r>
            <a:br>
              <a:rPr lang="en-US" dirty="0"/>
            </a:br>
            <a:r>
              <a:rPr lang="en-US" dirty="0"/>
              <a:t>• SNHU Travel: Improved code review bottleneck</a:t>
            </a:r>
            <a:br>
              <a:rPr lang="en-US" dirty="0"/>
            </a:br>
            <a:br>
              <a:rPr lang="en-US" dirty="0"/>
            </a:br>
            <a:r>
              <a:rPr lang="en-US" dirty="0"/>
              <a:t>Backlog Refinement (Ongoing)</a:t>
            </a:r>
            <a:br>
              <a:rPr lang="en-US" dirty="0"/>
            </a:br>
            <a:r>
              <a:rPr lang="en-US" dirty="0"/>
              <a:t>• Clarify upcoming user stories, estimate effort</a:t>
            </a:r>
            <a:br>
              <a:rPr lang="en-US" dirty="0"/>
            </a:br>
            <a:r>
              <a:rPr lang="en-US" dirty="0"/>
              <a:t>• Prepare for sprint planning</a:t>
            </a:r>
          </a:p>
          <a:p>
            <a:endParaRPr lang="en-US" dirty="0"/>
          </a:p>
        </p:txBody>
      </p:sp>
    </p:spTree>
    <p:extLst>
      <p:ext uri="{BB962C8B-B14F-4D97-AF65-F5344CB8AC3E}">
        <p14:creationId xmlns:p14="http://schemas.microsoft.com/office/powerpoint/2010/main" val="19379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E93CEC-3825-4014-6EF8-F546D638C7AD}"/>
              </a:ext>
            </a:extLst>
          </p:cNvPr>
          <p:cNvSpPr>
            <a:spLocks noGrp="1"/>
          </p:cNvSpPr>
          <p:nvPr>
            <p:ph type="title"/>
          </p:nvPr>
        </p:nvSpPr>
        <p:spPr/>
        <p:txBody>
          <a:bodyPr/>
          <a:lstStyle/>
          <a:p>
            <a:r>
              <a:rPr lang="en-US" dirty="0"/>
              <a:t>Strategic Recommendations for Adopting Agile</a:t>
            </a:r>
          </a:p>
        </p:txBody>
      </p:sp>
      <p:sp>
        <p:nvSpPr>
          <p:cNvPr id="3" name="Content Placeholder 2">
            <a:extLst>
              <a:ext uri="{FF2B5EF4-FFF2-40B4-BE49-F238E27FC236}">
                <a16:creationId xmlns:a16="http://schemas.microsoft.com/office/drawing/2014/main" id="{8BD2292C-E00B-1EC3-C7E8-BA3BC8122ACE}"/>
              </a:ext>
            </a:extLst>
          </p:cNvPr>
          <p:cNvSpPr>
            <a:spLocks noGrp="1"/>
          </p:cNvSpPr>
          <p:nvPr>
            <p:ph idx="1"/>
          </p:nvPr>
        </p:nvSpPr>
        <p:spPr/>
        <p:txBody>
          <a:bodyPr>
            <a:normAutofit fontScale="55000" lnSpcReduction="20000"/>
          </a:bodyPr>
          <a:lstStyle/>
          <a:p>
            <a:r>
              <a:rPr lang="en-US" dirty="0"/>
              <a:t>For Organizations Considering Agile:</a:t>
            </a:r>
            <a:br>
              <a:rPr lang="en-US" dirty="0"/>
            </a:br>
            <a:br>
              <a:rPr lang="en-US" dirty="0"/>
            </a:br>
            <a:r>
              <a:rPr lang="en-US" dirty="0"/>
              <a:t>1. Start with a Pilot Project</a:t>
            </a:r>
            <a:br>
              <a:rPr lang="en-US" dirty="0"/>
            </a:br>
            <a:r>
              <a:rPr lang="en-US" dirty="0"/>
              <a:t>   • Choose moderate complexity with supportive stakeholders</a:t>
            </a:r>
            <a:br>
              <a:rPr lang="en-US" dirty="0"/>
            </a:br>
            <a:r>
              <a:rPr lang="en-US" dirty="0"/>
              <a:t>   • Build internal champions through success</a:t>
            </a:r>
            <a:br>
              <a:rPr lang="en-US" dirty="0"/>
            </a:br>
            <a:br>
              <a:rPr lang="en-US" dirty="0"/>
            </a:br>
            <a:r>
              <a:rPr lang="en-US" dirty="0"/>
              <a:t>2. Invest in Training and Coaching</a:t>
            </a:r>
            <a:br>
              <a:rPr lang="en-US" dirty="0"/>
            </a:br>
            <a:r>
              <a:rPr lang="en-US" dirty="0"/>
              <a:t>   • Provide Scrum Master certification</a:t>
            </a:r>
            <a:br>
              <a:rPr lang="en-US" dirty="0"/>
            </a:br>
            <a:r>
              <a:rPr lang="en-US" dirty="0"/>
              <a:t>   • Allow learning curve time (2-3 sprints)</a:t>
            </a:r>
            <a:br>
              <a:rPr lang="en-US" dirty="0"/>
            </a:br>
            <a:br>
              <a:rPr lang="en-US" dirty="0"/>
            </a:br>
            <a:r>
              <a:rPr lang="en-US" dirty="0"/>
              <a:t>3. Ensure Product Owner Availability</a:t>
            </a:r>
            <a:br>
              <a:rPr lang="en-US" dirty="0"/>
            </a:br>
            <a:r>
              <a:rPr lang="en-US" dirty="0"/>
              <a:t>   • Dedicate Product Owners to teams</a:t>
            </a:r>
            <a:br>
              <a:rPr lang="en-US" dirty="0"/>
            </a:br>
            <a:r>
              <a:rPr lang="en-US" dirty="0"/>
              <a:t>   • Empower them to make priority decisions</a:t>
            </a:r>
            <a:br>
              <a:rPr lang="en-US" dirty="0"/>
            </a:br>
            <a:br>
              <a:rPr lang="en-US" dirty="0"/>
            </a:br>
            <a:r>
              <a:rPr lang="en-US" dirty="0"/>
              <a:t>4. Create Cross-Functional Teams</a:t>
            </a:r>
            <a:br>
              <a:rPr lang="en-US" dirty="0"/>
            </a:br>
            <a:r>
              <a:rPr lang="en-US" dirty="0"/>
              <a:t>   • Break down specialist silos</a:t>
            </a:r>
            <a:br>
              <a:rPr lang="en-US" dirty="0"/>
            </a:br>
            <a:r>
              <a:rPr lang="en-US" dirty="0"/>
              <a:t>   • Encourage T-shaped skills</a:t>
            </a:r>
            <a:br>
              <a:rPr lang="en-US" dirty="0"/>
            </a:br>
            <a:br>
              <a:rPr lang="en-US" dirty="0"/>
            </a:br>
            <a:r>
              <a:rPr lang="en-US" dirty="0"/>
              <a:t>5. Embrace Cultural Change</a:t>
            </a:r>
            <a:br>
              <a:rPr lang="en-US" dirty="0"/>
            </a:br>
            <a:r>
              <a:rPr lang="en-US" dirty="0"/>
              <a:t>   • Leadership must model Agile values</a:t>
            </a:r>
            <a:br>
              <a:rPr lang="en-US" dirty="0"/>
            </a:br>
            <a:r>
              <a:rPr lang="en-US" dirty="0"/>
              <a:t>   • Reward team outcomes, not individual heroics</a:t>
            </a:r>
            <a:br>
              <a:rPr lang="en-US" dirty="0"/>
            </a:br>
            <a:br>
              <a:rPr lang="en-US" dirty="0"/>
            </a:br>
            <a:r>
              <a:rPr lang="en-US" dirty="0"/>
              <a:t>6. Measure the Right Metrics</a:t>
            </a:r>
            <a:br>
              <a:rPr lang="en-US" dirty="0"/>
            </a:br>
            <a:r>
              <a:rPr lang="en-US" dirty="0"/>
              <a:t>   • Track customer value delivered, not hours worked</a:t>
            </a:r>
            <a:br>
              <a:rPr lang="en-US" dirty="0"/>
            </a:br>
            <a:r>
              <a:rPr lang="en-US" dirty="0"/>
              <a:t>   • Use burn-down charts, not Gantt charts</a:t>
            </a:r>
          </a:p>
          <a:p>
            <a:endParaRPr lang="en-US" dirty="0"/>
          </a:p>
        </p:txBody>
      </p:sp>
    </p:spTree>
    <p:extLst>
      <p:ext uri="{BB962C8B-B14F-4D97-AF65-F5344CB8AC3E}">
        <p14:creationId xmlns:p14="http://schemas.microsoft.com/office/powerpoint/2010/main" val="14109309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C8CFFA-63E1-D17A-17DE-21DB8920F796}"/>
              </a:ext>
            </a:extLst>
          </p:cNvPr>
          <p:cNvSpPr>
            <a:spLocks noGrp="1"/>
          </p:cNvSpPr>
          <p:nvPr>
            <p:ph type="title"/>
          </p:nvPr>
        </p:nvSpPr>
        <p:spPr>
          <a:xfrm>
            <a:off x="838200" y="-3796748"/>
            <a:ext cx="10515600" cy="11887201"/>
          </a:xfrm>
        </p:spPr>
        <p:txBody>
          <a:bodyPr>
            <a:normAutofit fontScale="90000"/>
          </a:bodyPr>
          <a:lstStyle/>
          <a:p>
            <a:r>
              <a:rPr lang="en-US" dirty="0"/>
              <a:t>Almeida, F., &amp; </a:t>
            </a:r>
            <a:r>
              <a:rPr lang="en-US" dirty="0" err="1"/>
              <a:t>Espinheira</a:t>
            </a:r>
            <a:r>
              <a:rPr lang="en-US" dirty="0"/>
              <a:t>, E. (2022). Large scale agile frameworks: A comparative </a:t>
            </a:r>
            <a:br>
              <a:rPr lang="en-US" dirty="0"/>
            </a:br>
            <a:r>
              <a:rPr lang="en-US" dirty="0"/>
              <a:t>     review. Journal of Applied Sciences, Management and Engineering Technology, </a:t>
            </a:r>
            <a:br>
              <a:rPr lang="en-US" dirty="0"/>
            </a:br>
            <a:r>
              <a:rPr lang="en-US" dirty="0"/>
              <a:t>     3(1), 16-29. https://doi.org/10.31284/j.jasmet.2022.v3i1.2733</a:t>
            </a:r>
            <a:br>
              <a:rPr lang="en-US" dirty="0"/>
            </a:br>
            <a:br>
              <a:rPr lang="en-US" dirty="0"/>
            </a:br>
            <a:r>
              <a:rPr lang="en-US" dirty="0"/>
              <a:t>Digital.ai. (2023). 16th annual state of Agile report. Digital.ai. </a:t>
            </a:r>
            <a:br>
              <a:rPr lang="en-US" dirty="0"/>
            </a:br>
            <a:r>
              <a:rPr lang="en-US" dirty="0"/>
              <a:t>     https://digital.ai/resource-center/analyst-reports/state-of-agile-report/</a:t>
            </a:r>
            <a:br>
              <a:rPr lang="en-US" dirty="0"/>
            </a:br>
            <a:br>
              <a:rPr lang="en-US" dirty="0"/>
            </a:br>
            <a:r>
              <a:rPr lang="en-US" dirty="0"/>
              <a:t>Schwaber, K., &amp; Sutherland, J. (2020). The Scrum guide: The definitive guide to </a:t>
            </a:r>
            <a:br>
              <a:rPr lang="en-US" dirty="0"/>
            </a:br>
            <a:r>
              <a:rPr lang="en-US" dirty="0"/>
              <a:t>     Scrum: The rules of the game. Scrum.org. </a:t>
            </a:r>
            <a:br>
              <a:rPr lang="en-US" dirty="0"/>
            </a:br>
            <a:r>
              <a:rPr lang="en-US" dirty="0"/>
              <a:t>     https://scrumguides.org/scrum-guide.html</a:t>
            </a:r>
            <a:br>
              <a:rPr lang="en-US" dirty="0"/>
            </a:br>
            <a:br>
              <a:rPr lang="en-US" dirty="0"/>
            </a:br>
            <a:r>
              <a:rPr lang="en-US" dirty="0"/>
              <a:t>Stellman, A., &amp; Greene, J. (2022). Learning Agile: Understanding Scrum, XP, Lean, </a:t>
            </a:r>
            <a:br>
              <a:rPr lang="en-US" dirty="0"/>
            </a:br>
            <a:r>
              <a:rPr lang="en-US" dirty="0"/>
              <a:t>     and Kanban (2nd ed.). O'Reilly Media.</a:t>
            </a:r>
            <a:br>
              <a:rPr lang="en-US" dirty="0"/>
            </a:br>
            <a:endParaRPr lang="en-US" dirty="0"/>
          </a:p>
        </p:txBody>
      </p:sp>
    </p:spTree>
    <p:extLst>
      <p:ext uri="{BB962C8B-B14F-4D97-AF65-F5344CB8AC3E}">
        <p14:creationId xmlns:p14="http://schemas.microsoft.com/office/powerpoint/2010/main" val="18786023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153</TotalTime>
  <Words>1609</Words>
  <Application>Microsoft Office PowerPoint</Application>
  <PresentationFormat>Widescreen</PresentationFormat>
  <Paragraphs>58</Paragraphs>
  <Slides>10</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Aptos</vt:lpstr>
      <vt:lpstr>Aptos Display</vt:lpstr>
      <vt:lpstr>Arial</vt:lpstr>
      <vt:lpstr>Office Theme</vt:lpstr>
      <vt:lpstr>Understanding Agile-Scrum: A Modern Approach to Software Development</vt:lpstr>
      <vt:lpstr>Key Roles in a Scrum-Agile Team</vt:lpstr>
      <vt:lpstr>Software Development Lifecycle in Agile </vt:lpstr>
      <vt:lpstr>Waterfall Development: A Different Approach</vt:lpstr>
      <vt:lpstr>Choosing the Right Methodology</vt:lpstr>
      <vt:lpstr>Proven Benefits of Agile Development</vt:lpstr>
      <vt:lpstr>Addressing Agile Implementation Challenges</vt:lpstr>
      <vt:lpstr>Essential Scrum Events</vt:lpstr>
      <vt:lpstr>Strategic Recommendations for Adopting Agile</vt:lpstr>
      <vt:lpstr>Almeida, F., &amp; Espinheira, E. (2022). Large scale agile frameworks: A comparative       review. Journal of Applied Sciences, Management and Engineering Technology,       3(1), 16-29. https://doi.org/10.31284/j.jasmet.2022.v3i1.2733  Digital.ai. (2023). 16th annual state of Agile report. Digital.ai.       https://digital.ai/resource-center/analyst-reports/state-of-agile-report/  Schwaber, K., &amp; Sutherland, J. (2020). The Scrum guide: The definitive guide to       Scrum: The rules of the game. Scrum.org.       https://scrumguides.org/scrum-guide.html  Stellman, A., &amp; Greene, J. (2022). Learning Agile: Understanding Scrum, XP, Lean,       and Kanban (2nd ed.). O'Reilly Media.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Scott Campbell</dc:creator>
  <cp:lastModifiedBy>Scott Campbell</cp:lastModifiedBy>
  <cp:revision>1</cp:revision>
  <dcterms:created xsi:type="dcterms:W3CDTF">2026-06-15T21:11:59Z</dcterms:created>
  <dcterms:modified xsi:type="dcterms:W3CDTF">2026-06-15T23:45:47Z</dcterms:modified>
</cp:coreProperties>
</file>